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F5318-64C5-E46B-8A1C-6FFE3351F972}" v="286" dt="2026-05-20T05:52:39.273"/>
    <p1510:client id="{E1EF061B-9322-44DC-AB05-56AA3DB4E0C0}" v="13" dt="2026-05-20T05:42:05.599"/>
  </p1510:revLst>
</p1510:revInfo>
</file>

<file path=ppt/tableStyles.xml><?xml version="1.0" encoding="utf-8"?>
<a:tblStyleLst xmlns:a="http://schemas.openxmlformats.org/drawingml/2006/main" def="{DC73472B-B3E6-411D-BCD4-AE809300D954}">
  <a:tblStyle styleId="{DC73472B-B3E6-411D-BCD4-AE809300D9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75550" y="1822601"/>
            <a:ext cx="7041000" cy="2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Inventory &amp; Supply Chain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Management</a:t>
            </a:r>
            <a:r>
              <a:rPr lang="en-US" sz="40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with Reorder Alerts</a:t>
            </a:r>
            <a:endParaRPr sz="405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39812" y="3871590"/>
            <a:ext cx="57246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by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Debasmita Sen &amp; Rupali Jain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ANP-D5749 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Mentored by- Mr. Sayan Sau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90" y="2729599"/>
            <a:ext cx="121920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47E9AC-F3F2-18C9-F5FE-983C723AF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212336"/>
            <a:ext cx="2148830" cy="9132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755" y="-2875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PROBLEM STATEMENT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76762" y="1858459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Inefficient Manual Tracking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Reliance on static logs leads to human error and data inconsistencies.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6762" y="2304199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Frequent Stockout Events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Absence of real-time alerts prevents proactive replenishment.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76762" y="2749939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Fragmentation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Inventory, suppliers, and movements are tracked in silos, hindering visibility.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76762" y="3195679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Lead Times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Manual data entry and validation consume critical operational hours.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87" y="18917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387" y="233753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387" y="278327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387" y="3229016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9352"/>
            <a:ext cx="3555950" cy="240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79352"/>
            <a:ext cx="3555950" cy="240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79352"/>
            <a:ext cx="3555950" cy="24040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OBJECTIVES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94281" y="3574702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Real-Time Tracking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850927"/>
            <a:ext cx="29654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 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livestock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calculation using dynamic formulas across Stock In/Out sheets.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210740" y="3574702"/>
            <a:ext cx="17702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Automated Alerts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385092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Trigger instant reorder flags when stock breaches minimum safety thresholds.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32212" y="3574702"/>
            <a:ext cx="14201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Visual Insights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9675" y="3850927"/>
            <a:ext cx="29654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Develop an interactive dashboard for category-level inventory health monitoring.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82713" y="301272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163" y="301272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7989" y="3012727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EXISTING VS. PROPOSED SYSTEM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6"/>
          <p:cNvGraphicFramePr/>
          <p:nvPr/>
        </p:nvGraphicFramePr>
        <p:xfrm>
          <a:off x="571500" y="2828925"/>
          <a:ext cx="11049000" cy="2200250"/>
        </p:xfrm>
        <a:graphic>
          <a:graphicData uri="http://schemas.openxmlformats.org/drawingml/2006/table">
            <a:tbl>
              <a:tblPr firstRow="1" bandRow="1">
                <a:noFill/>
                <a:tableStyleId>{DC73472B-B3E6-411D-BCD4-AE809300D954}</a:tableStyleId>
              </a:tblPr>
              <a:tblGrid>
                <a:gridCol w="222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Existing Manual System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Automated System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Entry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Fully Manual / Slow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VBA Auto-Fill Enabled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Stock Updates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Periodical / Static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(SUMIF Logic)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Alerting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 Inspection Only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Automated Reorder Alerts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Ad-hoc / Tedious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Dashboard &amp; Pivots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Google Shape;130;p16"/>
          <p:cNvSpPr/>
          <p:nvPr/>
        </p:nvSpPr>
        <p:spPr>
          <a:xfrm>
            <a:off x="571500" y="37576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794843" y="37576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796980" y="37576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41767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794843" y="41767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796980" y="41767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00" y="45958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794843" y="45958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796980" y="45958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50149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794843" y="50149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796980" y="50149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TOOLS &amp; TECHNOLOGIES USED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599307" y="3711922"/>
            <a:ext cx="15001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Microsoft Excel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core engine for data storage, calculations, and visual representation.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405764" y="3711922"/>
            <a:ext cx="13801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VBA (Macros)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1322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Advanced scripting for automated field population and UI optimization.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262229" y="3711922"/>
            <a:ext cx="11601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Power Pivot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35967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Utilized for handling multidimensional data analysis and categorization.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06525" y="314994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31499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1801" y="314994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67062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1625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96187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0750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EXECUTION WORKFLOW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3881437"/>
            <a:ext cx="11049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246822" y="3601491"/>
            <a:ext cx="8401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Raw Data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66800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Ingestion of supply chain logs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3486388" y="3601491"/>
            <a:ext cx="7900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Cleaning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3281362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validation &amp; normalization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625941" y="3601491"/>
            <a:ext cx="94011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Processing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495925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SUMIF &amp; XLOOKUP Logic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945516" y="3669952"/>
            <a:ext cx="73009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743825" y="3955702"/>
            <a:ext cx="1133475" cy="13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Pivot Table Generation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995058" y="3601491"/>
            <a:ext cx="106013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Dashboards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925050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reporting &amp; metrics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9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456336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Broad coverage including Fruits, Dairy, Grains, Bakery, Seafood, and Beverages.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658838" y="3953767"/>
            <a:ext cx="1419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Unique Products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252888" y="3953767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Product Categories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066014" y="3953767"/>
            <a:ext cx="1466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Stock Units</a:t>
            </a: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62CE82-FA31-BD1A-F1F5-B770BC35EA1C}"/>
              </a:ext>
            </a:extLst>
          </p:cNvPr>
          <p:cNvSpPr/>
          <p:nvPr/>
        </p:nvSpPr>
        <p:spPr>
          <a:xfrm>
            <a:off x="1657289" y="2456431"/>
            <a:ext cx="1532686" cy="1372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Google Shape;192;p19"/>
          <p:cNvSpPr txBox="1"/>
          <p:nvPr/>
        </p:nvSpPr>
        <p:spPr>
          <a:xfrm>
            <a:off x="1716348" y="2666994"/>
            <a:ext cx="14192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124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CA812E-FAC0-45DE-7AA8-C87B1DDB8F86}"/>
              </a:ext>
            </a:extLst>
          </p:cNvPr>
          <p:cNvSpPr/>
          <p:nvPr/>
        </p:nvSpPr>
        <p:spPr>
          <a:xfrm>
            <a:off x="5251628" y="2456430"/>
            <a:ext cx="1532686" cy="1372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Google Shape;194;p19"/>
          <p:cNvSpPr txBox="1"/>
          <p:nvPr/>
        </p:nvSpPr>
        <p:spPr>
          <a:xfrm>
            <a:off x="5252888" y="2810767"/>
            <a:ext cx="1638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A01D0C-D696-E896-CDE1-6959FB385DD3}"/>
              </a:ext>
            </a:extLst>
          </p:cNvPr>
          <p:cNvSpPr/>
          <p:nvPr/>
        </p:nvSpPr>
        <p:spPr>
          <a:xfrm>
            <a:off x="8989741" y="2557071"/>
            <a:ext cx="1532686" cy="1372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Google Shape;196;p19"/>
          <p:cNvSpPr txBox="1"/>
          <p:nvPr/>
        </p:nvSpPr>
        <p:spPr>
          <a:xfrm>
            <a:off x="9066014" y="2810767"/>
            <a:ext cx="14668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55k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 l="10030" r="-10030"/>
          <a:stretch/>
        </p:blipFill>
        <p:spPr>
          <a:xfrm>
            <a:off x="0" y="-8855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CLEANING PROCESS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904875" y="306615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Deduplication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Removed redundant records via Data Ribbon tool.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04875" y="351189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 Conversion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Normalized negative stock values.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04875" y="3957637"/>
            <a:ext cx="5000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TRIM &amp; PROPER</a:t>
            </a:r>
            <a:r>
              <a:rPr lang="en-US" sz="1350" b="0" i="0" u="none" strike="noStrike" cap="none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: Fixed casing and </a:t>
            </a:r>
            <a:r>
              <a:rPr lang="en-US" sz="135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trailing</a:t>
            </a:r>
            <a:r>
              <a:rPr lang="en-US" sz="1350" b="0" i="0" u="none" strike="noStrike" cap="none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 white-spaces</a:t>
            </a:r>
            <a:r>
              <a:rPr lang="en-US" sz="1350" b="0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04875" y="4403377"/>
            <a:ext cx="5000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 Formatting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Standardized mixed date strings</a:t>
            </a:r>
            <a:endParaRPr sz="13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949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5234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09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671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-258425" y="2899875"/>
            <a:ext cx="61641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B8B8F-A1AF-623B-1884-1F3D5222F0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9229" y="3402704"/>
            <a:ext cx="5905673" cy="2696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7E2E92-87CB-05A0-C493-0F35D3E274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1720" y="188001"/>
            <a:ext cx="5904945" cy="2696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E3C88A-6771-7184-9AE5-D959EB670394}"/>
              </a:ext>
            </a:extLst>
          </p:cNvPr>
          <p:cNvSpPr txBox="1"/>
          <p:nvPr/>
        </p:nvSpPr>
        <p:spPr>
          <a:xfrm>
            <a:off x="787135" y="2571972"/>
            <a:ext cx="4822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Null Value Handling: </a:t>
            </a:r>
            <a:r>
              <a:rPr lang="en-US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Blanks handled using Go to Special Feature.</a:t>
            </a:r>
            <a:endParaRPr lang="en-IN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78A02-0819-9350-02FE-20063179E6B4}"/>
              </a:ext>
            </a:extLst>
          </p:cNvPr>
          <p:cNvSpPr txBox="1"/>
          <p:nvPr/>
        </p:nvSpPr>
        <p:spPr>
          <a:xfrm>
            <a:off x="504476" y="2553630"/>
            <a:ext cx="282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O</a:t>
            </a:r>
            <a:endParaRPr lang="en-IN" b="1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019EF-37EE-9CBB-F098-C2344189B0DA}"/>
              </a:ext>
            </a:extLst>
          </p:cNvPr>
          <p:cNvSpPr txBox="1"/>
          <p:nvPr/>
        </p:nvSpPr>
        <p:spPr>
          <a:xfrm>
            <a:off x="787135" y="4843754"/>
            <a:ext cx="444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Unwanted Data</a:t>
            </a:r>
            <a:r>
              <a:rPr lang="en-US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Unnecessary data removed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IN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5BF1B-4D23-B661-4297-B350E6D95012}"/>
              </a:ext>
            </a:extLst>
          </p:cNvPr>
          <p:cNvSpPr txBox="1"/>
          <p:nvPr/>
        </p:nvSpPr>
        <p:spPr>
          <a:xfrm>
            <a:off x="504476" y="4843755"/>
            <a:ext cx="20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>
                    <a:lumMod val="75000"/>
                  </a:schemeClr>
                </a:solidFill>
              </a:rPr>
              <a:t>X</a:t>
            </a:r>
            <a:endParaRPr lang="en-IN" b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681399-BE00-A4B6-7D9C-5082BFB6652A}"/>
              </a:ext>
            </a:extLst>
          </p:cNvPr>
          <p:cNvSpPr txBox="1"/>
          <p:nvPr/>
        </p:nvSpPr>
        <p:spPr>
          <a:xfrm>
            <a:off x="7765490" y="2892292"/>
            <a:ext cx="28324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Removing Duplicates</a:t>
            </a: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25D90-34AC-30D3-160E-D976BB55C963}"/>
              </a:ext>
            </a:extLst>
          </p:cNvPr>
          <p:cNvSpPr txBox="1"/>
          <p:nvPr/>
        </p:nvSpPr>
        <p:spPr>
          <a:xfrm>
            <a:off x="7568482" y="6095700"/>
            <a:ext cx="257235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Managing the Negative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EXCEL FUNCTIONS ENGINE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04875" y="306615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SUMIF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Dynamically subtracts Stock Out from Stock In per Product ID.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04875" y="351189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XLOOKUP / VLOOKUP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Auto-populates supplier and location details.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04875" y="395763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&amp; IFERROR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Manages logic for reorder status and suppresses error codes.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04875" y="440337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COUNTIFS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Aggregates the number of products needing reorder per category.</a:t>
            </a:r>
            <a:endParaRPr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9494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523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09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671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75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972" y="2110045"/>
            <a:ext cx="5492151" cy="181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85217" y="2116749"/>
            <a:ext cx="5334000" cy="180394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VBA AUTOMATION CAPABILITIES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665492" y="2419698"/>
            <a:ext cx="248031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Macro-Powered Auto-Fill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65492" y="2825319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Eliminates repetitive typing by instantly populating Product Name, Supplier, and Warehouse Location upon Product ID entry.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380492" y="2412024"/>
            <a:ext cx="236029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Event Handling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380492" y="2688249"/>
            <a:ext cx="47434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Scripts run on 'Worksheet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Change' events, ensuring that the system remains responsive to user input without manual triggers.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750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762000" y="57150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INVENTORY DASHBOARD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413349" y="310132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dashboard centralizes key KPIs, allowing warehouse managers to assess inventory health in under 5 seconds.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746724" y="1764102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stock distribution.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746724" y="2209842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Instant alert highlight.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46724" y="2655582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Category-level drill down.</a:t>
            </a:r>
            <a:endParaRPr/>
          </a:p>
        </p:txBody>
      </p:sp>
      <p:pic>
        <p:nvPicPr>
          <p:cNvPr id="256" name="Google Shape;25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49" y="1797439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349" y="224317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3349" y="268891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9AD83-F0EF-3B4D-D29E-86D12C0515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0" y="1437686"/>
            <a:ext cx="6233746" cy="4099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75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PIVOT TABLE ANALYSIS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370217" y="184147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utilizes Pivot Tables for multi-dimensional data interrogation, allowing for: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03592" y="254245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Comparison of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Stock In vs. Stock Out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by category.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03592" y="298819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Supplier performance and lead time assessment.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703592" y="3433931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Identification of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Low-Turnover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items to optimize shelf space.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3C577-267E-F85E-A9A1-2288CB4CC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738" y="1742342"/>
            <a:ext cx="6425424" cy="3104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CATEGORY SUMMARY STATISTICS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571500" y="47110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Total Aggregate Inventory: 55,039 Units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550" y="-446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IMPLEMENTATION CHALLENGES</a:t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976761" y="1908725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Cross-Sheet Integration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Synchronizing Stock In/Out movements without formula lag.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976761" y="2354465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Macro Security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Ensuring consistent performance across different Excel security environments.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976761" y="2800206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Data Noise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Managing inconsistent input formats from multiple suppliers.</a:t>
            </a:r>
            <a:endParaRPr/>
          </a:p>
        </p:txBody>
      </p:sp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86" y="194206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386" y="238780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386" y="2833543"/>
            <a:ext cx="1905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754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3930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953930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953930"/>
            <a:ext cx="3555950" cy="212973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SYSTEM ROADMAP</a:t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1564302" y="2849280"/>
            <a:ext cx="15701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Cloud Migration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866775" y="3125505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Transitioning to Power BI or SQL for larger dataset scalability.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5480774" y="2849280"/>
            <a:ext cx="123015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Predictive AI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4613225" y="3125505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Forecasting seasonal demand peaks using machine learning plugins.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9182219" y="2849280"/>
            <a:ext cx="132016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RFID/Barcode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8359675" y="3125505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Integration with hardware for touchless stock entry.</a:t>
            </a:r>
            <a:endParaRPr/>
          </a:p>
        </p:txBody>
      </p:sp>
      <p:pic>
        <p:nvPicPr>
          <p:cNvPr id="310" name="Google Shape;31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1275" y="228730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228730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1801" y="228730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 txBox="1"/>
          <p:nvPr/>
        </p:nvSpPr>
        <p:spPr>
          <a:xfrm>
            <a:off x="2293188" y="1716567"/>
            <a:ext cx="6858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"Efficiency in the supply chain is no longer a luxury; it is the fundamental requirement for operational continuity."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2084717" y="3430834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automated solution successfully reduces manual intervention by 70%, providing a reliable and scalable inventory tracking framework.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295275" y="259035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2026-05-20T05:53:57Z</dcterms:modified>
</cp:coreProperties>
</file>