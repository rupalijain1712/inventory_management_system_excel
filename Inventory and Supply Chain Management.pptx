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embeddedFontLst>
    <p:embeddedFont>
      <p:font typeface="Space Grotesk" panose="020B0604020202020204" charset="0"/>
      <p:regular r:id="rId19"/>
      <p:bold r:id="rId20"/>
    </p:embeddedFont>
    <p:embeddedFont>
      <p:font typeface="Urbanist" panose="020B0604020202020204" charset="0"/>
      <p:regular r:id="rId21"/>
      <p:bold r:id="rId22"/>
      <p:italic r:id="rId23"/>
      <p:boldItalic r:id="rId24"/>
    </p:embeddedFont>
    <p:embeddedFont>
      <p:font typeface="Urbanist Medium" panose="020B0604020202020204" charset="0"/>
      <p:regular r:id="rId25"/>
      <p:bold r:id="rId26"/>
      <p:italic r:id="rId27"/>
      <p:boldItalic r:id="rId28"/>
    </p:embeddedFont>
    <p:embeddedFont>
      <p:font typeface="Urbanist SemiBold" panose="020B0604020202020204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A8EEB3-4729-4AB1-BDAE-713785C90366}" v="2" dt="2026-05-26T17:22:33.996"/>
  </p1510:revLst>
</p1510:revInfo>
</file>

<file path=ppt/tableStyles.xml><?xml version="1.0" encoding="utf-8"?>
<a:tblStyleLst xmlns:a="http://schemas.openxmlformats.org/drawingml/2006/main" def="{A4FCB88E-F02E-4EAF-9AA3-47CB04F75D12}">
  <a:tblStyle styleId="{A4FCB88E-F02E-4EAF-9AA3-47CB04F75D1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–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–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–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341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21" Type="http://schemas.openxmlformats.org/officeDocument/2006/relationships/font" Target="fonts/font3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2.png"/><Relationship Id="rId9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.png"/><Relationship Id="rId9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jpe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1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10" Type="http://schemas.openxmlformats.org/officeDocument/2006/relationships/image" Target="../media/image49.png"/><Relationship Id="rId4" Type="http://schemas.openxmlformats.org/officeDocument/2006/relationships/image" Target="../media/image2.png"/><Relationship Id="rId9" Type="http://schemas.openxmlformats.org/officeDocument/2006/relationships/image" Target="../media/image4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0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9.png"/><Relationship Id="rId3" Type="http://schemas.openxmlformats.org/officeDocument/2006/relationships/image" Target="../media/image1.png"/><Relationship Id="rId7" Type="http://schemas.openxmlformats.org/officeDocument/2006/relationships/image" Target="../media/image53.png"/><Relationship Id="rId12" Type="http://schemas.openxmlformats.org/officeDocument/2006/relationships/image" Target="../media/image5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5" Type="http://schemas.openxmlformats.org/officeDocument/2006/relationships/image" Target="../media/image51.png"/><Relationship Id="rId10" Type="http://schemas.openxmlformats.org/officeDocument/2006/relationships/image" Target="../media/image56.png"/><Relationship Id="rId4" Type="http://schemas.openxmlformats.org/officeDocument/2006/relationships/image" Target="../media/image2.png"/><Relationship Id="rId9" Type="http://schemas.openxmlformats.org/officeDocument/2006/relationships/image" Target="../media/image5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5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1.png"/><Relationship Id="rId7" Type="http://schemas.openxmlformats.org/officeDocument/2006/relationships/image" Target="../media/image74.png"/><Relationship Id="rId12" Type="http://schemas.openxmlformats.org/officeDocument/2006/relationships/image" Target="../media/image7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png"/><Relationship Id="rId11" Type="http://schemas.openxmlformats.org/officeDocument/2006/relationships/image" Target="../media/image78.png"/><Relationship Id="rId5" Type="http://schemas.openxmlformats.org/officeDocument/2006/relationships/image" Target="../media/image72.png"/><Relationship Id="rId10" Type="http://schemas.openxmlformats.org/officeDocument/2006/relationships/image" Target="../media/image77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" y="9525"/>
            <a:ext cx="12172950" cy="683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13265" y="2262187"/>
            <a:ext cx="4107209" cy="23336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7608540" y="2557462"/>
            <a:ext cx="3516659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Developed by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7608540" y="2795587"/>
            <a:ext cx="351665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Debasmita Sen &amp; Rupali Jain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7608540" y="3167062"/>
            <a:ext cx="3516659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Batch Reference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7608540" y="3405187"/>
            <a:ext cx="351665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ANP-D5749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7608540" y="3776662"/>
            <a:ext cx="3516659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Project Mentor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7608540" y="4014787"/>
            <a:ext cx="351665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Mr. Sayan Sau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771525" y="2547044"/>
            <a:ext cx="6468777" cy="2437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Inventory &amp; Supply Chain </a:t>
            </a:r>
            <a:r>
              <a:rPr lang="en-US" sz="4800" b="1" dirty="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Tracker</a:t>
            </a:r>
            <a:r>
              <a:rPr lang="en-US" sz="4800" b="1" i="0" u="none" strike="noStrike" cap="none" dirty="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 with Reorder Alerts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9B85EC-B11C-5833-1081-E1AEEE5EF5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9349" y="479881"/>
            <a:ext cx="1434482" cy="6096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0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" y="9525"/>
            <a:ext cx="12172950" cy="683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66800" y="2671762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10337" y="2671762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66800" y="4319587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10337" y="431958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1495425" y="2986087"/>
            <a:ext cx="4186237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Reliance on static logs leads to human error and data inconsistencies.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938962" y="2986087"/>
            <a:ext cx="4186237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Absence of real-time alerts prevents proactive replenishment.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1495425" y="4633912"/>
            <a:ext cx="4186237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Inventory, suppliers, and movements are tracked in silos, hindering visibility.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6938962" y="4633912"/>
            <a:ext cx="4186237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Manual data entry and validation consume critical operational hours.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771525" y="581025"/>
            <a:ext cx="11181397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PROBLEM </a:t>
            </a:r>
            <a:r>
              <a:rPr lang="en-US" sz="3300" b="1" i="0" u="none" strike="noStrike" cap="none">
                <a:solidFill>
                  <a:srgbClr val="008B92"/>
                </a:solidFill>
                <a:latin typeface="Space Grotesk"/>
                <a:ea typeface="Space Grotesk"/>
                <a:cs typeface="Space Grotesk"/>
                <a:sym typeface="Space Grotesk"/>
              </a:rPr>
              <a:t>STATEMENT</a:t>
            </a:r>
            <a:endParaRPr/>
          </a:p>
        </p:txBody>
      </p:sp>
      <p:sp>
        <p:nvSpPr>
          <p:cNvPr id="111" name="Google Shape;111;p14"/>
          <p:cNvSpPr/>
          <p:nvPr/>
        </p:nvSpPr>
        <p:spPr>
          <a:xfrm>
            <a:off x="771525" y="1114425"/>
            <a:ext cx="5200650" cy="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1495425" y="2652712"/>
            <a:ext cx="439554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Inefficient Manual Tracking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6938962" y="2652712"/>
            <a:ext cx="439554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Frequent Stockout Events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1495425" y="4300537"/>
            <a:ext cx="439554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Data Fragmentation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6938962" y="4300537"/>
            <a:ext cx="439554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High Lead Times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0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" y="9525"/>
            <a:ext cx="12172950" cy="683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2459831"/>
            <a:ext cx="3359050" cy="2852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16325" y="2459831"/>
            <a:ext cx="3359199" cy="2852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61275" y="2459831"/>
            <a:ext cx="3359050" cy="2852737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/>
          <p:nvPr/>
        </p:nvSpPr>
        <p:spPr>
          <a:xfrm>
            <a:off x="1066801" y="3876675"/>
            <a:ext cx="2768498" cy="19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117675" y="2850356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1066800" y="4193381"/>
            <a:ext cx="2768500" cy="728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Implement livestock calculation using dynamic formulas across Stock In/Out sheets.</a:t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4711600" y="3876675"/>
            <a:ext cx="2768650" cy="19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" name="Google Shape;129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62476" y="2850356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5"/>
          <p:cNvSpPr txBox="1"/>
          <p:nvPr/>
        </p:nvSpPr>
        <p:spPr>
          <a:xfrm>
            <a:off x="4711600" y="4193381"/>
            <a:ext cx="2768649" cy="728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Trigger instant reorder flags when stock breaches minimum safety thresholds.</a:t>
            </a:r>
            <a:endParaRPr/>
          </a:p>
        </p:txBody>
      </p:sp>
      <p:sp>
        <p:nvSpPr>
          <p:cNvPr id="131" name="Google Shape;131;p15"/>
          <p:cNvSpPr/>
          <p:nvPr/>
        </p:nvSpPr>
        <p:spPr>
          <a:xfrm>
            <a:off x="8356551" y="3876675"/>
            <a:ext cx="2768498" cy="19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" name="Google Shape;132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407425" y="2850356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 txBox="1"/>
          <p:nvPr/>
        </p:nvSpPr>
        <p:spPr>
          <a:xfrm>
            <a:off x="8356550" y="4193381"/>
            <a:ext cx="2768500" cy="728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Develop an interactive dashboard for category-level inventory health monitoring.</a:t>
            </a:r>
            <a:endParaRPr/>
          </a:p>
        </p:txBody>
      </p:sp>
      <p:pic>
        <p:nvPicPr>
          <p:cNvPr id="134" name="Google Shape;134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317700" y="3050381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5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976788" y="3050381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5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588400" y="3050381"/>
            <a:ext cx="304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5"/>
          <p:cNvSpPr txBox="1"/>
          <p:nvPr/>
        </p:nvSpPr>
        <p:spPr>
          <a:xfrm>
            <a:off x="771525" y="581025"/>
            <a:ext cx="11181397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SYSTEM </a:t>
            </a:r>
            <a:r>
              <a:rPr lang="en-US" sz="3300" b="1" i="0" u="none" strike="noStrike" cap="none">
                <a:solidFill>
                  <a:srgbClr val="008B92"/>
                </a:solidFill>
                <a:latin typeface="Space Grotesk"/>
                <a:ea typeface="Space Grotesk"/>
                <a:cs typeface="Space Grotesk"/>
                <a:sym typeface="Space Grotesk"/>
              </a:rPr>
              <a:t>OBJECTIVES</a:t>
            </a:r>
            <a:endParaRPr/>
          </a:p>
        </p:txBody>
      </p:sp>
      <p:sp>
        <p:nvSpPr>
          <p:cNvPr id="138" name="Google Shape;138;p15"/>
          <p:cNvSpPr/>
          <p:nvPr/>
        </p:nvSpPr>
        <p:spPr>
          <a:xfrm>
            <a:off x="771525" y="1114425"/>
            <a:ext cx="6257925" cy="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5"/>
          <p:cNvSpPr txBox="1"/>
          <p:nvPr/>
        </p:nvSpPr>
        <p:spPr>
          <a:xfrm>
            <a:off x="997587" y="3755231"/>
            <a:ext cx="290692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Real-Time Tracking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4642384" y="3755231"/>
            <a:ext cx="2907082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Automated Alerts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8287337" y="3755231"/>
            <a:ext cx="290692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Visual Insights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0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" y="9525"/>
            <a:ext cx="12172950" cy="683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2366962"/>
            <a:ext cx="10648950" cy="30384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9" name="Google Shape;149;p16"/>
          <p:cNvGraphicFramePr/>
          <p:nvPr>
            <p:extLst>
              <p:ext uri="{D42A27DB-BD31-4B8C-83A1-F6EECF244321}">
                <p14:modId xmlns:p14="http://schemas.microsoft.com/office/powerpoint/2010/main" val="4119099013"/>
              </p:ext>
            </p:extLst>
          </p:nvPr>
        </p:nvGraphicFramePr>
        <p:xfrm>
          <a:off x="781050" y="2376487"/>
          <a:ext cx="10629900" cy="3019375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2275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68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u="none" strike="noStrike" cap="none" dirty="0">
                          <a:solidFill>
                            <a:srgbClr val="FFFFFF"/>
                          </a:solidFill>
                          <a:sym typeface="Urbanist"/>
                        </a:rPr>
                        <a:t>Feature</a:t>
                      </a:r>
                      <a:endParaRPr b="1" dirty="0"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u="none" strike="noStrike" cap="none">
                          <a:solidFill>
                            <a:srgbClr val="FFFFFF"/>
                          </a:solidFill>
                          <a:sym typeface="Urbanist"/>
                        </a:rPr>
                        <a:t>Existing Manual System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u="none" strike="noStrike" cap="none">
                          <a:solidFill>
                            <a:srgbClr val="FFFFFF"/>
                          </a:solidFill>
                          <a:sym typeface="Urbanist"/>
                        </a:rPr>
                        <a:t>Proposed Automated System</a:t>
                      </a:r>
                      <a:endParaRPr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u="none" strike="noStrike" cap="none" dirty="0">
                          <a:solidFill>
                            <a:srgbClr val="E2E8F0"/>
                          </a:solidFill>
                          <a:sym typeface="Urbanist"/>
                        </a:rPr>
                        <a:t>Data Entry</a:t>
                      </a:r>
                      <a:endParaRPr b="0" dirty="0"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u="none" strike="noStrike" cap="none" dirty="0">
                          <a:solidFill>
                            <a:schemeClr val="bg1">
                              <a:lumMod val="95000"/>
                            </a:schemeClr>
                          </a:solidFill>
                          <a:sym typeface="Urbanist"/>
                        </a:rPr>
                        <a:t>Fully Manual / Slow</a:t>
                      </a:r>
                      <a:endParaRPr lang="en-US" b="0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u="none" strike="noStrike" cap="none">
                          <a:solidFill>
                            <a:srgbClr val="E2E8F0"/>
                          </a:solidFill>
                          <a:sym typeface="Urbanist"/>
                        </a:rPr>
                        <a:t>VBA Auto-Fill Enabled</a:t>
                      </a:r>
                      <a:endParaRPr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u="none" strike="noStrike" cap="none" dirty="0">
                          <a:solidFill>
                            <a:srgbClr val="E2E8F0"/>
                          </a:solidFill>
                          <a:sym typeface="Urbanist"/>
                        </a:rPr>
                        <a:t>Stock Updates</a:t>
                      </a:r>
                      <a:endParaRPr b="0" dirty="0"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u="none" strike="noStrike" cap="none">
                          <a:solidFill>
                            <a:srgbClr val="E2E8F0"/>
                          </a:solidFill>
                          <a:sym typeface="Urbanist"/>
                        </a:rPr>
                        <a:t>Periodical / Static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u="none" strike="noStrike" cap="none">
                          <a:solidFill>
                            <a:srgbClr val="E2E8F0"/>
                          </a:solidFill>
                          <a:sym typeface="Urbanist"/>
                        </a:rPr>
                        <a:t>Real-time (SUMIF Logic)</a:t>
                      </a:r>
                      <a:endParaRPr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u="none" strike="noStrike" cap="none" dirty="0">
                          <a:solidFill>
                            <a:srgbClr val="E2E8F0"/>
                          </a:solidFill>
                          <a:sym typeface="Urbanist"/>
                        </a:rPr>
                        <a:t>Alerting</a:t>
                      </a:r>
                      <a:endParaRPr b="0" dirty="0"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u="none" strike="noStrike" cap="none">
                          <a:solidFill>
                            <a:srgbClr val="E2E8F0"/>
                          </a:solidFill>
                          <a:sym typeface="Urbanist"/>
                        </a:rPr>
                        <a:t>Visual Inspection Only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u="none" strike="noStrike" cap="none">
                          <a:solidFill>
                            <a:srgbClr val="E2E8F0"/>
                          </a:solidFill>
                          <a:sym typeface="Urbanist"/>
                        </a:rPr>
                        <a:t>Automated Reorder Alerts</a:t>
                      </a:r>
                      <a:endParaRPr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u="none" strike="noStrike" cap="none" dirty="0">
                          <a:solidFill>
                            <a:srgbClr val="E2E8F0"/>
                          </a:solidFill>
                          <a:sym typeface="Urbanist"/>
                        </a:rPr>
                        <a:t>Analysis</a:t>
                      </a:r>
                      <a:endParaRPr b="0" dirty="0"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u="none" strike="noStrike" cap="none">
                          <a:solidFill>
                            <a:srgbClr val="E2E8F0"/>
                          </a:solidFill>
                          <a:sym typeface="Urbanist"/>
                        </a:rPr>
                        <a:t>Ad-hoc / Tedious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u="none" strike="noStrike" cap="none" dirty="0">
                          <a:solidFill>
                            <a:srgbClr val="E2E8F0"/>
                          </a:solidFill>
                          <a:sym typeface="Urbanist"/>
                        </a:rPr>
                        <a:t>Dynamic Dashboard &amp; Pivots</a:t>
                      </a:r>
                      <a:endParaRPr dirty="0"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0" name="Google Shape;150;p16"/>
          <p:cNvSpPr/>
          <p:nvPr/>
        </p:nvSpPr>
        <p:spPr>
          <a:xfrm>
            <a:off x="781050" y="3590925"/>
            <a:ext cx="2275433" cy="9525"/>
          </a:xfrm>
          <a:prstGeom prst="rect">
            <a:avLst/>
          </a:prstGeom>
          <a:solidFill>
            <a:srgbClr val="1E26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3056483" y="3590925"/>
            <a:ext cx="3886200" cy="9525"/>
          </a:xfrm>
          <a:prstGeom prst="rect">
            <a:avLst/>
          </a:prstGeom>
          <a:solidFill>
            <a:srgbClr val="1E26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6942683" y="3590925"/>
            <a:ext cx="4468266" cy="9525"/>
          </a:xfrm>
          <a:prstGeom prst="rect">
            <a:avLst/>
          </a:prstGeom>
          <a:solidFill>
            <a:srgbClr val="1E26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781050" y="4191000"/>
            <a:ext cx="2275433" cy="9525"/>
          </a:xfrm>
          <a:prstGeom prst="rect">
            <a:avLst/>
          </a:prstGeom>
          <a:solidFill>
            <a:srgbClr val="1E26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3056483" y="4191000"/>
            <a:ext cx="3886200" cy="9525"/>
          </a:xfrm>
          <a:prstGeom prst="rect">
            <a:avLst/>
          </a:prstGeom>
          <a:solidFill>
            <a:srgbClr val="1E26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/>
          <p:nvPr/>
        </p:nvSpPr>
        <p:spPr>
          <a:xfrm>
            <a:off x="6942683" y="4191000"/>
            <a:ext cx="4468266" cy="9525"/>
          </a:xfrm>
          <a:prstGeom prst="rect">
            <a:avLst/>
          </a:prstGeom>
          <a:solidFill>
            <a:srgbClr val="1E26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781050" y="4791075"/>
            <a:ext cx="2275433" cy="9525"/>
          </a:xfrm>
          <a:prstGeom prst="rect">
            <a:avLst/>
          </a:prstGeom>
          <a:solidFill>
            <a:srgbClr val="1E26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3056483" y="4791075"/>
            <a:ext cx="3886200" cy="9525"/>
          </a:xfrm>
          <a:prstGeom prst="rect">
            <a:avLst/>
          </a:prstGeom>
          <a:solidFill>
            <a:srgbClr val="1E26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6942683" y="4791075"/>
            <a:ext cx="4468266" cy="9525"/>
          </a:xfrm>
          <a:prstGeom prst="rect">
            <a:avLst/>
          </a:prstGeom>
          <a:solidFill>
            <a:srgbClr val="1E26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6"/>
          <p:cNvSpPr txBox="1"/>
          <p:nvPr/>
        </p:nvSpPr>
        <p:spPr>
          <a:xfrm>
            <a:off x="781050" y="590550"/>
            <a:ext cx="11181397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EXISTING VS. </a:t>
            </a:r>
            <a:r>
              <a:rPr lang="en-US" sz="3300" b="1" i="0" u="none" strike="noStrike" cap="none" dirty="0">
                <a:solidFill>
                  <a:srgbClr val="008B92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PROPOSED SYSTEM</a:t>
            </a:r>
            <a:endParaRPr dirty="0"/>
          </a:p>
        </p:txBody>
      </p:sp>
      <p:sp>
        <p:nvSpPr>
          <p:cNvPr id="168" name="Google Shape;168;p16"/>
          <p:cNvSpPr/>
          <p:nvPr/>
        </p:nvSpPr>
        <p:spPr>
          <a:xfrm>
            <a:off x="771525" y="1114425"/>
            <a:ext cx="3986212" cy="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0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" y="9525"/>
            <a:ext cx="12172950" cy="683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2717006"/>
            <a:ext cx="3359050" cy="23383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16325" y="2717006"/>
            <a:ext cx="3359199" cy="23383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61275" y="2717006"/>
            <a:ext cx="3359050" cy="23383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14425" y="3059906"/>
            <a:ext cx="267325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7"/>
          <p:cNvSpPr txBox="1"/>
          <p:nvPr/>
        </p:nvSpPr>
        <p:spPr>
          <a:xfrm>
            <a:off x="1114425" y="3983831"/>
            <a:ext cx="2673250" cy="728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The core engine for data storage, calculations, and visual representation.</a:t>
            </a:r>
            <a:endParaRPr/>
          </a:p>
        </p:txBody>
      </p:sp>
      <p:pic>
        <p:nvPicPr>
          <p:cNvPr id="180" name="Google Shape;180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759225" y="3059906"/>
            <a:ext cx="2673399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7"/>
          <p:cNvSpPr txBox="1"/>
          <p:nvPr/>
        </p:nvSpPr>
        <p:spPr>
          <a:xfrm>
            <a:off x="4759225" y="3983831"/>
            <a:ext cx="2673399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Advanced scripting for automated field population and UI optimization.</a:t>
            </a:r>
            <a:endParaRPr/>
          </a:p>
        </p:txBody>
      </p:sp>
      <p:pic>
        <p:nvPicPr>
          <p:cNvPr id="182" name="Google Shape;182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404175" y="3059906"/>
            <a:ext cx="267325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7"/>
          <p:cNvSpPr txBox="1"/>
          <p:nvPr/>
        </p:nvSpPr>
        <p:spPr>
          <a:xfrm>
            <a:off x="8404175" y="3983831"/>
            <a:ext cx="26732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Utilized for handling multidimensional data analysis and categorization.</a:t>
            </a:r>
            <a:endParaRPr/>
          </a:p>
        </p:txBody>
      </p:sp>
      <p:sp>
        <p:nvSpPr>
          <p:cNvPr id="184" name="Google Shape;184;p17"/>
          <p:cNvSpPr txBox="1"/>
          <p:nvPr/>
        </p:nvSpPr>
        <p:spPr>
          <a:xfrm>
            <a:off x="771525" y="581025"/>
            <a:ext cx="11181397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TOOLS &amp; </a:t>
            </a:r>
            <a:r>
              <a:rPr lang="en-US" sz="3300" b="1" i="0" u="none" strike="noStrike" cap="none">
                <a:solidFill>
                  <a:srgbClr val="008B92"/>
                </a:solidFill>
                <a:latin typeface="Space Grotesk"/>
                <a:ea typeface="Space Grotesk"/>
                <a:cs typeface="Space Grotesk"/>
                <a:sym typeface="Space Grotesk"/>
              </a:rPr>
              <a:t>TECHNOLOGIES USED</a:t>
            </a:r>
            <a:endParaRPr/>
          </a:p>
        </p:txBody>
      </p:sp>
      <p:sp>
        <p:nvSpPr>
          <p:cNvPr id="185" name="Google Shape;185;p17"/>
          <p:cNvSpPr/>
          <p:nvPr/>
        </p:nvSpPr>
        <p:spPr>
          <a:xfrm>
            <a:off x="771525" y="1114425"/>
            <a:ext cx="4524375" cy="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7"/>
          <p:cNvSpPr txBox="1"/>
          <p:nvPr/>
        </p:nvSpPr>
        <p:spPr>
          <a:xfrm>
            <a:off x="1114425" y="3545681"/>
            <a:ext cx="2806913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Microsoft Excel</a:t>
            </a:r>
            <a:endParaRPr/>
          </a:p>
        </p:txBody>
      </p:sp>
      <p:sp>
        <p:nvSpPr>
          <p:cNvPr id="187" name="Google Shape;187;p17"/>
          <p:cNvSpPr txBox="1"/>
          <p:nvPr/>
        </p:nvSpPr>
        <p:spPr>
          <a:xfrm>
            <a:off x="4759225" y="3545681"/>
            <a:ext cx="2807069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VBA (Macros)</a:t>
            </a:r>
            <a:endParaRPr/>
          </a:p>
        </p:txBody>
      </p:sp>
      <p:sp>
        <p:nvSpPr>
          <p:cNvPr id="188" name="Google Shape;188;p17"/>
          <p:cNvSpPr txBox="1"/>
          <p:nvPr/>
        </p:nvSpPr>
        <p:spPr>
          <a:xfrm>
            <a:off x="8404175" y="3545681"/>
            <a:ext cx="2806913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Power Pivot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0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050" y="0"/>
            <a:ext cx="12172950" cy="683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3219450"/>
            <a:ext cx="1794569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985194" y="3219450"/>
            <a:ext cx="1794569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198864" y="3219450"/>
            <a:ext cx="1794569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412533" y="3219450"/>
            <a:ext cx="1794569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26203" y="3219450"/>
            <a:ext cx="1794569" cy="133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8"/>
          <p:cNvSpPr/>
          <p:nvPr/>
        </p:nvSpPr>
        <p:spPr>
          <a:xfrm>
            <a:off x="1525934" y="3871912"/>
            <a:ext cx="285750" cy="28575"/>
          </a:xfrm>
          <a:prstGeom prst="rect">
            <a:avLst/>
          </a:prstGeom>
          <a:solidFill>
            <a:srgbClr val="008B9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8"/>
          <p:cNvSpPr txBox="1"/>
          <p:nvPr/>
        </p:nvSpPr>
        <p:spPr>
          <a:xfrm>
            <a:off x="971550" y="3837682"/>
            <a:ext cx="1424397" cy="60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Ingestion of supply chain logs</a:t>
            </a:r>
            <a:endParaRPr sz="2000" dirty="0"/>
          </a:p>
        </p:txBody>
      </p:sp>
      <p:pic>
        <p:nvPicPr>
          <p:cNvPr id="202" name="Google Shape;202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708969" y="3776662"/>
            <a:ext cx="1333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8"/>
          <p:cNvSpPr/>
          <p:nvPr/>
        </p:nvSpPr>
        <p:spPr>
          <a:xfrm>
            <a:off x="3739604" y="3871912"/>
            <a:ext cx="285750" cy="28575"/>
          </a:xfrm>
          <a:prstGeom prst="rect">
            <a:avLst/>
          </a:prstGeom>
          <a:solidFill>
            <a:srgbClr val="008B9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8"/>
          <p:cNvSpPr txBox="1"/>
          <p:nvPr/>
        </p:nvSpPr>
        <p:spPr>
          <a:xfrm>
            <a:off x="3185219" y="3837682"/>
            <a:ext cx="1394519" cy="60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Data validation &amp; normalization</a:t>
            </a:r>
            <a:endParaRPr sz="1600" dirty="0"/>
          </a:p>
        </p:txBody>
      </p:sp>
      <p:pic>
        <p:nvPicPr>
          <p:cNvPr id="205" name="Google Shape;205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922639" y="3776662"/>
            <a:ext cx="1333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8"/>
          <p:cNvSpPr/>
          <p:nvPr/>
        </p:nvSpPr>
        <p:spPr>
          <a:xfrm>
            <a:off x="5953273" y="3871912"/>
            <a:ext cx="285750" cy="28575"/>
          </a:xfrm>
          <a:prstGeom prst="rect">
            <a:avLst/>
          </a:prstGeom>
          <a:solidFill>
            <a:srgbClr val="008B9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8"/>
          <p:cNvSpPr txBox="1"/>
          <p:nvPr/>
        </p:nvSpPr>
        <p:spPr>
          <a:xfrm>
            <a:off x="5398889" y="3837682"/>
            <a:ext cx="1394519" cy="60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SUMIF &amp; XLOOKUP Logic</a:t>
            </a:r>
            <a:endParaRPr sz="2000" dirty="0"/>
          </a:p>
        </p:txBody>
      </p:sp>
      <p:pic>
        <p:nvPicPr>
          <p:cNvPr id="208" name="Google Shape;208;p18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136308" y="3776662"/>
            <a:ext cx="1333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8"/>
          <p:cNvSpPr/>
          <p:nvPr/>
        </p:nvSpPr>
        <p:spPr>
          <a:xfrm>
            <a:off x="8166943" y="3871912"/>
            <a:ext cx="285750" cy="28575"/>
          </a:xfrm>
          <a:prstGeom prst="rect">
            <a:avLst/>
          </a:prstGeom>
          <a:solidFill>
            <a:srgbClr val="008B9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8"/>
          <p:cNvSpPr txBox="1"/>
          <p:nvPr/>
        </p:nvSpPr>
        <p:spPr>
          <a:xfrm>
            <a:off x="7612558" y="3930997"/>
            <a:ext cx="1394519" cy="60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Pivot Table Generation</a:t>
            </a:r>
            <a:endParaRPr sz="2000" dirty="0"/>
          </a:p>
        </p:txBody>
      </p:sp>
      <p:pic>
        <p:nvPicPr>
          <p:cNvPr id="211" name="Google Shape;211;p18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349978" y="3776662"/>
            <a:ext cx="1333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8"/>
          <p:cNvSpPr/>
          <p:nvPr/>
        </p:nvSpPr>
        <p:spPr>
          <a:xfrm>
            <a:off x="10380612" y="3871912"/>
            <a:ext cx="285750" cy="28575"/>
          </a:xfrm>
          <a:prstGeom prst="rect">
            <a:avLst/>
          </a:prstGeom>
          <a:solidFill>
            <a:srgbClr val="008B9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8"/>
          <p:cNvSpPr txBox="1"/>
          <p:nvPr/>
        </p:nvSpPr>
        <p:spPr>
          <a:xfrm>
            <a:off x="9826228" y="3837682"/>
            <a:ext cx="1394519" cy="60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Visual reporting &amp; metrics</a:t>
            </a:r>
            <a:endParaRPr sz="2000" dirty="0"/>
          </a:p>
        </p:txBody>
      </p:sp>
      <p:sp>
        <p:nvSpPr>
          <p:cNvPr id="214" name="Google Shape;214;p18"/>
          <p:cNvSpPr txBox="1"/>
          <p:nvPr/>
        </p:nvSpPr>
        <p:spPr>
          <a:xfrm>
            <a:off x="771525" y="581025"/>
            <a:ext cx="11181397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SYSTEM EXECUTION </a:t>
            </a:r>
            <a:r>
              <a:rPr lang="en-US" sz="3300" b="1" i="0" u="none" strike="noStrike" cap="none">
                <a:solidFill>
                  <a:srgbClr val="008B92"/>
                </a:solidFill>
                <a:latin typeface="Space Grotesk"/>
                <a:ea typeface="Space Grotesk"/>
                <a:cs typeface="Space Grotesk"/>
                <a:sym typeface="Space Grotesk"/>
              </a:rPr>
              <a:t>WORKFLOW</a:t>
            </a:r>
            <a:endParaRPr/>
          </a:p>
        </p:txBody>
      </p:sp>
      <p:sp>
        <p:nvSpPr>
          <p:cNvPr id="215" name="Google Shape;215;p18"/>
          <p:cNvSpPr/>
          <p:nvPr/>
        </p:nvSpPr>
        <p:spPr>
          <a:xfrm>
            <a:off x="771525" y="1114425"/>
            <a:ext cx="4076700" cy="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8"/>
          <p:cNvSpPr txBox="1"/>
          <p:nvPr/>
        </p:nvSpPr>
        <p:spPr>
          <a:xfrm>
            <a:off x="936687" y="3561457"/>
            <a:ext cx="146424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Raw Data</a:t>
            </a:r>
            <a:endParaRPr dirty="0"/>
          </a:p>
        </p:txBody>
      </p:sp>
      <p:sp>
        <p:nvSpPr>
          <p:cNvPr id="217" name="Google Shape;217;p18"/>
          <p:cNvSpPr txBox="1"/>
          <p:nvPr/>
        </p:nvSpPr>
        <p:spPr>
          <a:xfrm>
            <a:off x="3150356" y="3561457"/>
            <a:ext cx="146424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Cleaning</a:t>
            </a:r>
            <a:endParaRPr/>
          </a:p>
        </p:txBody>
      </p:sp>
      <p:sp>
        <p:nvSpPr>
          <p:cNvPr id="218" name="Google Shape;218;p18"/>
          <p:cNvSpPr txBox="1"/>
          <p:nvPr/>
        </p:nvSpPr>
        <p:spPr>
          <a:xfrm>
            <a:off x="5364026" y="3561457"/>
            <a:ext cx="146424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Processing</a:t>
            </a:r>
            <a:endParaRPr dirty="0"/>
          </a:p>
        </p:txBody>
      </p:sp>
      <p:sp>
        <p:nvSpPr>
          <p:cNvPr id="219" name="Google Shape;219;p18"/>
          <p:cNvSpPr txBox="1"/>
          <p:nvPr/>
        </p:nvSpPr>
        <p:spPr>
          <a:xfrm>
            <a:off x="7577695" y="3654772"/>
            <a:ext cx="146424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Analysis</a:t>
            </a:r>
            <a:endParaRPr dirty="0"/>
          </a:p>
        </p:txBody>
      </p:sp>
      <p:sp>
        <p:nvSpPr>
          <p:cNvPr id="220" name="Google Shape;220;p18"/>
          <p:cNvSpPr txBox="1"/>
          <p:nvPr/>
        </p:nvSpPr>
        <p:spPr>
          <a:xfrm>
            <a:off x="9791365" y="3561457"/>
            <a:ext cx="146424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Dashboards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0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80975"/>
            <a:ext cx="12172950" cy="683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19650" y="2457450"/>
            <a:ext cx="3205162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215312" y="2457450"/>
            <a:ext cx="3205162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819650" y="3981450"/>
            <a:ext cx="6600825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390775" y="3028950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9"/>
          <p:cNvSpPr txBox="1"/>
          <p:nvPr/>
        </p:nvSpPr>
        <p:spPr>
          <a:xfrm>
            <a:off x="1209675" y="3600450"/>
            <a:ext cx="279082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Broad operational coverage including </a:t>
            </a:r>
            <a:r>
              <a:rPr lang="en-US" sz="1500" b="0" i="0" u="none" strike="noStrike" cap="non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Fruits, Dairy, Grains, Bakery, Seafood, and Beverages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across multiple integrated nodes.</a:t>
            </a:r>
            <a:endParaRPr/>
          </a:p>
        </p:txBody>
      </p:sp>
      <p:sp>
        <p:nvSpPr>
          <p:cNvPr id="232" name="Google Shape;232;p19"/>
          <p:cNvSpPr txBox="1"/>
          <p:nvPr/>
        </p:nvSpPr>
        <p:spPr>
          <a:xfrm>
            <a:off x="5114925" y="2752725"/>
            <a:ext cx="2614612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1" i="0" u="none" strike="noStrike" cap="none">
                <a:solidFill>
                  <a:srgbClr val="DEFF9A"/>
                </a:solidFill>
                <a:latin typeface="Space Grotesk"/>
                <a:ea typeface="Space Grotesk"/>
                <a:cs typeface="Space Grotesk"/>
                <a:sym typeface="Space Grotesk"/>
              </a:rPr>
              <a:t>124</a:t>
            </a:r>
            <a:endParaRPr/>
          </a:p>
        </p:txBody>
      </p:sp>
      <p:sp>
        <p:nvSpPr>
          <p:cNvPr id="233" name="Google Shape;233;p19"/>
          <p:cNvSpPr txBox="1"/>
          <p:nvPr/>
        </p:nvSpPr>
        <p:spPr>
          <a:xfrm>
            <a:off x="5700712" y="3314700"/>
            <a:ext cx="1443037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UNIQUE PRODUCTS</a:t>
            </a:r>
            <a:endParaRPr/>
          </a:p>
        </p:txBody>
      </p:sp>
      <p:sp>
        <p:nvSpPr>
          <p:cNvPr id="234" name="Google Shape;234;p19"/>
          <p:cNvSpPr txBox="1"/>
          <p:nvPr/>
        </p:nvSpPr>
        <p:spPr>
          <a:xfrm>
            <a:off x="8510587" y="2752725"/>
            <a:ext cx="2614612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1" i="0" u="none" strike="noStrike" cap="none">
                <a:solidFill>
                  <a:srgbClr val="DEFF9A"/>
                </a:solidFill>
                <a:latin typeface="Space Grotesk"/>
                <a:ea typeface="Space Grotesk"/>
                <a:cs typeface="Space Grotesk"/>
                <a:sym typeface="Space Grotesk"/>
              </a:rPr>
              <a:t>7</a:t>
            </a:r>
            <a:endParaRPr/>
          </a:p>
        </p:txBody>
      </p:sp>
      <p:sp>
        <p:nvSpPr>
          <p:cNvPr id="235" name="Google Shape;235;p19"/>
          <p:cNvSpPr txBox="1"/>
          <p:nvPr/>
        </p:nvSpPr>
        <p:spPr>
          <a:xfrm>
            <a:off x="8951118" y="3314700"/>
            <a:ext cx="173355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PRODUCT CATEGORIES</a:t>
            </a:r>
            <a:endParaRPr/>
          </a:p>
        </p:txBody>
      </p:sp>
      <p:sp>
        <p:nvSpPr>
          <p:cNvPr id="236" name="Google Shape;236;p19"/>
          <p:cNvSpPr txBox="1"/>
          <p:nvPr/>
        </p:nvSpPr>
        <p:spPr>
          <a:xfrm>
            <a:off x="5114925" y="4276725"/>
            <a:ext cx="6010275" cy="83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1" i="0" u="none" strike="noStrike" cap="none" dirty="0">
                <a:solidFill>
                  <a:srgbClr val="008B92"/>
                </a:solidFill>
                <a:latin typeface="Space Grotesk"/>
                <a:ea typeface="Space Grotesk"/>
                <a:cs typeface="Space Grotesk"/>
                <a:sym typeface="Space Grotesk"/>
              </a:rPr>
              <a:t>55,067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dirty="0"/>
          </a:p>
        </p:txBody>
      </p:sp>
      <p:sp>
        <p:nvSpPr>
          <p:cNvPr id="237" name="Google Shape;237;p19"/>
          <p:cNvSpPr txBox="1"/>
          <p:nvPr/>
        </p:nvSpPr>
        <p:spPr>
          <a:xfrm>
            <a:off x="7355681" y="4838700"/>
            <a:ext cx="1528762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TOTAL STOCK UNITS</a:t>
            </a:r>
            <a:endParaRPr/>
          </a:p>
        </p:txBody>
      </p:sp>
      <p:sp>
        <p:nvSpPr>
          <p:cNvPr id="238" name="Google Shape;238;p19"/>
          <p:cNvSpPr txBox="1"/>
          <p:nvPr/>
        </p:nvSpPr>
        <p:spPr>
          <a:xfrm>
            <a:off x="771525" y="581025"/>
            <a:ext cx="11181397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DATASET </a:t>
            </a:r>
            <a:r>
              <a:rPr lang="en-US" sz="3300" b="1" i="0" u="none" strike="noStrike" cap="none">
                <a:solidFill>
                  <a:srgbClr val="008B92"/>
                </a:solidFill>
                <a:latin typeface="Space Grotesk"/>
                <a:ea typeface="Space Grotesk"/>
                <a:cs typeface="Space Grotesk"/>
                <a:sym typeface="Space Grotesk"/>
              </a:rPr>
              <a:t>OVERVIEW</a:t>
            </a:r>
            <a:endParaRPr/>
          </a:p>
        </p:txBody>
      </p:sp>
      <p:sp>
        <p:nvSpPr>
          <p:cNvPr id="239" name="Google Shape;239;p19"/>
          <p:cNvSpPr/>
          <p:nvPr/>
        </p:nvSpPr>
        <p:spPr>
          <a:xfrm>
            <a:off x="771525" y="1114425"/>
            <a:ext cx="6510337" cy="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0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" y="9525"/>
            <a:ext cx="12172950" cy="683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1550" y="2262187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0"/>
          <p:cNvSpPr txBox="1"/>
          <p:nvPr/>
        </p:nvSpPr>
        <p:spPr>
          <a:xfrm>
            <a:off x="1266825" y="2243137"/>
            <a:ext cx="46577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Deduplication:</a:t>
            </a:r>
            <a:r>
              <a:rPr lang="en-US" sz="1275" b="0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 Removed redundant records via Data Ribbon tool.</a:t>
            </a:r>
            <a:endParaRPr/>
          </a:p>
        </p:txBody>
      </p:sp>
      <p:pic>
        <p:nvPicPr>
          <p:cNvPr id="250" name="Google Shape;250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1550" y="2881312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0"/>
          <p:cNvSpPr txBox="1"/>
          <p:nvPr/>
        </p:nvSpPr>
        <p:spPr>
          <a:xfrm>
            <a:off x="1266825" y="2862262"/>
            <a:ext cx="36957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ABS Conversion:</a:t>
            </a:r>
            <a:r>
              <a:rPr lang="en-US" sz="1275" b="0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 Normalized negative stock values.</a:t>
            </a:r>
            <a:endParaRPr/>
          </a:p>
        </p:txBody>
      </p:sp>
      <p:pic>
        <p:nvPicPr>
          <p:cNvPr id="252" name="Google Shape;252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1550" y="3500437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0"/>
          <p:cNvSpPr txBox="1"/>
          <p:nvPr/>
        </p:nvSpPr>
        <p:spPr>
          <a:xfrm>
            <a:off x="1266825" y="3481387"/>
            <a:ext cx="39528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TRIM &amp; PROPER:</a:t>
            </a:r>
            <a:r>
              <a:rPr lang="en-US" sz="1275" b="0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 Fixed casing and trailing white-spaces.</a:t>
            </a:r>
            <a:endParaRPr/>
          </a:p>
        </p:txBody>
      </p:sp>
      <p:pic>
        <p:nvPicPr>
          <p:cNvPr id="254" name="Google Shape;254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1550" y="4119562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0"/>
          <p:cNvSpPr txBox="1"/>
          <p:nvPr/>
        </p:nvSpPr>
        <p:spPr>
          <a:xfrm>
            <a:off x="1266825" y="4100512"/>
            <a:ext cx="36195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Date Formatting:</a:t>
            </a:r>
            <a:r>
              <a:rPr lang="en-US" sz="1275" b="0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 Standardized mixed date strings.</a:t>
            </a:r>
            <a:endParaRPr/>
          </a:p>
        </p:txBody>
      </p:sp>
      <p:pic>
        <p:nvPicPr>
          <p:cNvPr id="256" name="Google Shape;256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1550" y="4738687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0"/>
          <p:cNvSpPr txBox="1"/>
          <p:nvPr/>
        </p:nvSpPr>
        <p:spPr>
          <a:xfrm>
            <a:off x="1266825" y="4719637"/>
            <a:ext cx="4572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Null Value Handling:</a:t>
            </a:r>
            <a:r>
              <a:rPr lang="en-US" sz="1275" b="0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 Blanks handled using Go to Special Feature.</a:t>
            </a:r>
            <a:endParaRPr/>
          </a:p>
        </p:txBody>
      </p:sp>
      <p:pic>
        <p:nvPicPr>
          <p:cNvPr id="258" name="Google Shape;258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1550" y="5357812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0"/>
          <p:cNvSpPr txBox="1"/>
          <p:nvPr/>
        </p:nvSpPr>
        <p:spPr>
          <a:xfrm>
            <a:off x="1266825" y="5338762"/>
            <a:ext cx="32670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Unwanted Data:</a:t>
            </a:r>
            <a:r>
              <a:rPr lang="en-US" sz="1275" b="0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 Unnecessary data removed.</a:t>
            </a:r>
            <a:endParaRPr/>
          </a:p>
        </p:txBody>
      </p:sp>
      <p:sp>
        <p:nvSpPr>
          <p:cNvPr id="264" name="Google Shape;264;p20"/>
          <p:cNvSpPr txBox="1"/>
          <p:nvPr/>
        </p:nvSpPr>
        <p:spPr>
          <a:xfrm>
            <a:off x="771525" y="581025"/>
            <a:ext cx="11181397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 CLEANING </a:t>
            </a:r>
            <a:r>
              <a:rPr lang="en-US" sz="3300" b="1" i="0" u="none" strike="noStrike" cap="none">
                <a:solidFill>
                  <a:srgbClr val="008B92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PROCESS</a:t>
            </a:r>
            <a:endParaRPr/>
          </a:p>
        </p:txBody>
      </p:sp>
      <p:sp>
        <p:nvSpPr>
          <p:cNvPr id="265" name="Google Shape;265;p20"/>
          <p:cNvSpPr/>
          <p:nvPr/>
        </p:nvSpPr>
        <p:spPr>
          <a:xfrm>
            <a:off x="771525" y="1114425"/>
            <a:ext cx="5419725" cy="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DCFCE0-C79C-8011-B9DB-2FBD10BB93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6732" y="530910"/>
            <a:ext cx="5146960" cy="23504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D772C1E-EF5D-6FCA-B3F6-FB99736363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46732" y="3576637"/>
            <a:ext cx="5148347" cy="23504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B4626CF-7D3D-69D5-1612-A2E29241EA68}"/>
              </a:ext>
            </a:extLst>
          </p:cNvPr>
          <p:cNvSpPr txBox="1"/>
          <p:nvPr/>
        </p:nvSpPr>
        <p:spPr>
          <a:xfrm>
            <a:off x="8331800" y="2931427"/>
            <a:ext cx="19768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Removal of Duplicates</a:t>
            </a:r>
            <a:endParaRPr lang="en-IN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59CB47-680C-DD4D-2456-664764836F78}"/>
              </a:ext>
            </a:extLst>
          </p:cNvPr>
          <p:cNvSpPr txBox="1"/>
          <p:nvPr/>
        </p:nvSpPr>
        <p:spPr>
          <a:xfrm>
            <a:off x="8008571" y="5969198"/>
            <a:ext cx="26232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Correction of Negative Values</a:t>
            </a:r>
            <a:endParaRPr lang="en-IN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0"/>
        </a:solidFill>
        <a:effectLst/>
      </p:bgPr>
    </p:bg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" y="9525"/>
            <a:ext cx="12172950" cy="683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2481262"/>
            <a:ext cx="5205412" cy="128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15062" y="2481262"/>
            <a:ext cx="5205412" cy="128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4005262"/>
            <a:ext cx="5205412" cy="128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15062" y="4005262"/>
            <a:ext cx="5205412" cy="1285875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1"/>
          <p:cNvSpPr txBox="1"/>
          <p:nvPr/>
        </p:nvSpPr>
        <p:spPr>
          <a:xfrm>
            <a:off x="1066800" y="3062287"/>
            <a:ext cx="46148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Dynamically subtracts Stock Out from Stock In per Product ID to manage livestock registers.</a:t>
            </a:r>
            <a:endParaRPr/>
          </a:p>
        </p:txBody>
      </p:sp>
      <p:sp>
        <p:nvSpPr>
          <p:cNvPr id="279" name="Google Shape;279;p21"/>
          <p:cNvSpPr txBox="1"/>
          <p:nvPr/>
        </p:nvSpPr>
        <p:spPr>
          <a:xfrm>
            <a:off x="6510337" y="3062287"/>
            <a:ext cx="46148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Auto-populates relational metadata including primary supplier names and warehouse placement logs.</a:t>
            </a:r>
            <a:endParaRPr/>
          </a:p>
        </p:txBody>
      </p:sp>
      <p:sp>
        <p:nvSpPr>
          <p:cNvPr id="280" name="Google Shape;280;p21"/>
          <p:cNvSpPr txBox="1"/>
          <p:nvPr/>
        </p:nvSpPr>
        <p:spPr>
          <a:xfrm>
            <a:off x="1066800" y="4586287"/>
            <a:ext cx="46148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Manages active structural logic barriers for critical reorder thresholds and blankets systemic formula syntax alerts.</a:t>
            </a:r>
            <a:endParaRPr/>
          </a:p>
        </p:txBody>
      </p:sp>
      <p:sp>
        <p:nvSpPr>
          <p:cNvPr id="281" name="Google Shape;281;p21"/>
          <p:cNvSpPr txBox="1"/>
          <p:nvPr/>
        </p:nvSpPr>
        <p:spPr>
          <a:xfrm>
            <a:off x="6510337" y="4586287"/>
            <a:ext cx="46148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Aggregates systemic summary totals detailing the gross volume of independent products requiring reorder markers.</a:t>
            </a:r>
            <a:endParaRPr/>
          </a:p>
        </p:txBody>
      </p:sp>
      <p:pic>
        <p:nvPicPr>
          <p:cNvPr id="282" name="Google Shape;282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66800" y="2757487"/>
            <a:ext cx="2000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10337" y="2757487"/>
            <a:ext cx="2000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66800" y="4281487"/>
            <a:ext cx="2000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1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510337" y="4281487"/>
            <a:ext cx="1524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1"/>
          <p:cNvSpPr txBox="1"/>
          <p:nvPr/>
        </p:nvSpPr>
        <p:spPr>
          <a:xfrm>
            <a:off x="771525" y="581025"/>
            <a:ext cx="11181397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EXCEL FUNCTIONS </a:t>
            </a:r>
            <a:r>
              <a:rPr lang="en-US" sz="3300" b="1" i="0" u="none" strike="noStrike" cap="none">
                <a:solidFill>
                  <a:srgbClr val="008B92"/>
                </a:solidFill>
                <a:latin typeface="Space Grotesk"/>
                <a:ea typeface="Space Grotesk"/>
                <a:cs typeface="Space Grotesk"/>
                <a:sym typeface="Space Grotesk"/>
              </a:rPr>
              <a:t>ENGINE</a:t>
            </a:r>
            <a:endParaRPr/>
          </a:p>
        </p:txBody>
      </p:sp>
      <p:sp>
        <p:nvSpPr>
          <p:cNvPr id="287" name="Google Shape;287;p21"/>
          <p:cNvSpPr/>
          <p:nvPr/>
        </p:nvSpPr>
        <p:spPr>
          <a:xfrm>
            <a:off x="771525" y="1114425"/>
            <a:ext cx="5338762" cy="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1"/>
          <p:cNvSpPr txBox="1"/>
          <p:nvPr/>
        </p:nvSpPr>
        <p:spPr>
          <a:xfrm>
            <a:off x="1362075" y="2744448"/>
            <a:ext cx="4535566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 dirty="0">
                <a:solidFill>
                  <a:srgbClr val="008B92"/>
                </a:solidFill>
                <a:latin typeface="Space Grotesk"/>
                <a:ea typeface="Space Grotesk"/>
                <a:cs typeface="Space Grotesk"/>
                <a:sym typeface="Space Grotesk"/>
              </a:rPr>
              <a:t>SUMIF</a:t>
            </a:r>
            <a:endParaRPr dirty="0"/>
          </a:p>
        </p:txBody>
      </p:sp>
      <p:sp>
        <p:nvSpPr>
          <p:cNvPr id="289" name="Google Shape;289;p21"/>
          <p:cNvSpPr txBox="1"/>
          <p:nvPr/>
        </p:nvSpPr>
        <p:spPr>
          <a:xfrm>
            <a:off x="6805612" y="2728912"/>
            <a:ext cx="4535566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>
                <a:solidFill>
                  <a:srgbClr val="008B92"/>
                </a:solidFill>
                <a:latin typeface="Space Grotesk"/>
                <a:ea typeface="Space Grotesk"/>
                <a:cs typeface="Space Grotesk"/>
                <a:sym typeface="Space Grotesk"/>
              </a:rPr>
              <a:t>XLOOKUP / VLOOKUP</a:t>
            </a:r>
            <a:endParaRPr/>
          </a:p>
        </p:txBody>
      </p:sp>
      <p:sp>
        <p:nvSpPr>
          <p:cNvPr id="290" name="Google Shape;290;p21"/>
          <p:cNvSpPr txBox="1"/>
          <p:nvPr/>
        </p:nvSpPr>
        <p:spPr>
          <a:xfrm>
            <a:off x="1362075" y="4252912"/>
            <a:ext cx="4535566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>
                <a:solidFill>
                  <a:srgbClr val="008B92"/>
                </a:solidFill>
                <a:latin typeface="Space Grotesk"/>
                <a:ea typeface="Space Grotesk"/>
                <a:cs typeface="Space Grotesk"/>
                <a:sym typeface="Space Grotesk"/>
              </a:rPr>
              <a:t>IF &amp; IFERROR</a:t>
            </a:r>
            <a:endParaRPr/>
          </a:p>
        </p:txBody>
      </p:sp>
      <p:sp>
        <p:nvSpPr>
          <p:cNvPr id="291" name="Google Shape;291;p21"/>
          <p:cNvSpPr txBox="1"/>
          <p:nvPr/>
        </p:nvSpPr>
        <p:spPr>
          <a:xfrm>
            <a:off x="6757987" y="4252912"/>
            <a:ext cx="4585573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>
                <a:solidFill>
                  <a:srgbClr val="008B92"/>
                </a:solidFill>
                <a:latin typeface="Space Grotesk"/>
                <a:ea typeface="Space Grotesk"/>
                <a:cs typeface="Space Grotesk"/>
                <a:sym typeface="Space Grotesk"/>
              </a:rPr>
              <a:t>COUNTIFS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0"/>
        </a:solidFill>
        <a:effectLst/>
      </p:bgPr>
    </p:bg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" y="9525"/>
            <a:ext cx="12172950" cy="683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2758678"/>
            <a:ext cx="5181600" cy="22550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2758678"/>
            <a:ext cx="5181600" cy="2255043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2"/>
          <p:cNvSpPr txBox="1"/>
          <p:nvPr/>
        </p:nvSpPr>
        <p:spPr>
          <a:xfrm>
            <a:off x="1162050" y="3587353"/>
            <a:ext cx="4400550" cy="1035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Eliminates repetitive data typing criteria by executing instant field population across Product Name, Master Supplier, and Warehouse Location coordinates strictly upon receiving raw Product ID inputs.</a:t>
            </a:r>
            <a:endParaRPr/>
          </a:p>
        </p:txBody>
      </p:sp>
      <p:sp>
        <p:nvSpPr>
          <p:cNvPr id="301" name="Google Shape;301;p22"/>
          <p:cNvSpPr txBox="1"/>
          <p:nvPr/>
        </p:nvSpPr>
        <p:spPr>
          <a:xfrm>
            <a:off x="6629400" y="3587353"/>
            <a:ext cx="4400550" cy="1035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Background execution architecture hooks natively into discrete 'Worksheet Change' parameters, driving a responsive system engine without manual user macro calculation triggers.</a:t>
            </a:r>
            <a:endParaRPr/>
          </a:p>
        </p:txBody>
      </p:sp>
      <p:sp>
        <p:nvSpPr>
          <p:cNvPr id="302" name="Google Shape;302;p22"/>
          <p:cNvSpPr txBox="1"/>
          <p:nvPr/>
        </p:nvSpPr>
        <p:spPr>
          <a:xfrm>
            <a:off x="771525" y="581025"/>
            <a:ext cx="11181397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VBA AUTOMATION </a:t>
            </a:r>
            <a:r>
              <a:rPr lang="en-US" sz="3300" b="1" i="0" u="none" strike="noStrike" cap="none">
                <a:solidFill>
                  <a:srgbClr val="008B92"/>
                </a:solidFill>
                <a:latin typeface="Space Grotesk"/>
                <a:ea typeface="Space Grotesk"/>
                <a:cs typeface="Space Grotesk"/>
                <a:sym typeface="Space Grotesk"/>
              </a:rPr>
              <a:t>CAPABILITIES</a:t>
            </a:r>
            <a:endParaRPr/>
          </a:p>
        </p:txBody>
      </p:sp>
      <p:sp>
        <p:nvSpPr>
          <p:cNvPr id="303" name="Google Shape;303;p22"/>
          <p:cNvSpPr/>
          <p:nvPr/>
        </p:nvSpPr>
        <p:spPr>
          <a:xfrm>
            <a:off x="771525" y="1114425"/>
            <a:ext cx="4181475" cy="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2"/>
          <p:cNvSpPr txBox="1"/>
          <p:nvPr/>
        </p:nvSpPr>
        <p:spPr>
          <a:xfrm>
            <a:off x="1162050" y="3177778"/>
            <a:ext cx="4620577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Macro-Powered Auto-Fill</a:t>
            </a:r>
            <a:endParaRPr/>
          </a:p>
        </p:txBody>
      </p:sp>
      <p:sp>
        <p:nvSpPr>
          <p:cNvPr id="305" name="Google Shape;305;p22"/>
          <p:cNvSpPr txBox="1"/>
          <p:nvPr/>
        </p:nvSpPr>
        <p:spPr>
          <a:xfrm>
            <a:off x="6629400" y="3177778"/>
            <a:ext cx="4620577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Dynamic Event Handling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0"/>
        </a:solid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" y="9525"/>
            <a:ext cx="12172950" cy="683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3376612"/>
            <a:ext cx="3359050" cy="165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16325" y="3376612"/>
            <a:ext cx="3359199" cy="165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61275" y="3376612"/>
            <a:ext cx="3359050" cy="165735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3"/>
          <p:cNvSpPr txBox="1"/>
          <p:nvPr/>
        </p:nvSpPr>
        <p:spPr>
          <a:xfrm>
            <a:off x="771525" y="2738437"/>
            <a:ext cx="106489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The analytical console centralizes primary metrics, driving executive operational analysis in </a:t>
            </a:r>
            <a:r>
              <a:rPr lang="en-US" sz="1650" b="0" i="0" u="none" strike="noStrike" cap="non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under 5 seconds</a:t>
            </a:r>
            <a:r>
              <a:rPr lang="en-US" sz="16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pic>
        <p:nvPicPr>
          <p:cNvPr id="316" name="Google Shape;316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165300" y="371951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3"/>
          <p:cNvSpPr txBox="1"/>
          <p:nvPr/>
        </p:nvSpPr>
        <p:spPr>
          <a:xfrm>
            <a:off x="1019175" y="4481512"/>
            <a:ext cx="28637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2E8F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Visual stock distribution</a:t>
            </a:r>
            <a:endParaRPr/>
          </a:p>
        </p:txBody>
      </p:sp>
      <p:pic>
        <p:nvPicPr>
          <p:cNvPr id="318" name="Google Shape;318;p2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810101" y="371951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3"/>
          <p:cNvSpPr txBox="1"/>
          <p:nvPr/>
        </p:nvSpPr>
        <p:spPr>
          <a:xfrm>
            <a:off x="4663975" y="4481512"/>
            <a:ext cx="2863899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2E8F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Instant alert highlight</a:t>
            </a:r>
            <a:endParaRPr/>
          </a:p>
        </p:txBody>
      </p:sp>
      <p:pic>
        <p:nvPicPr>
          <p:cNvPr id="320" name="Google Shape;320;p2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455050" y="371951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3"/>
          <p:cNvSpPr txBox="1"/>
          <p:nvPr/>
        </p:nvSpPr>
        <p:spPr>
          <a:xfrm>
            <a:off x="8308925" y="4481512"/>
            <a:ext cx="28637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2E8F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Category-level drill down</a:t>
            </a:r>
            <a:endParaRPr/>
          </a:p>
        </p:txBody>
      </p:sp>
      <p:pic>
        <p:nvPicPr>
          <p:cNvPr id="322" name="Google Shape;322;p2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322462" y="3890962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23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995838" y="3890962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23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612213" y="3890962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3"/>
          <p:cNvSpPr txBox="1"/>
          <p:nvPr/>
        </p:nvSpPr>
        <p:spPr>
          <a:xfrm>
            <a:off x="771525" y="581025"/>
            <a:ext cx="11181397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INVENTORY </a:t>
            </a:r>
            <a:r>
              <a:rPr lang="en-US" sz="3300" b="1" i="0" u="none" strike="noStrike" cap="none">
                <a:solidFill>
                  <a:srgbClr val="008B92"/>
                </a:solidFill>
                <a:latin typeface="Space Grotesk"/>
                <a:ea typeface="Space Grotesk"/>
                <a:cs typeface="Space Grotesk"/>
                <a:sym typeface="Space Grotesk"/>
              </a:rPr>
              <a:t>DASHBOARD</a:t>
            </a:r>
            <a:endParaRPr/>
          </a:p>
        </p:txBody>
      </p:sp>
      <p:sp>
        <p:nvSpPr>
          <p:cNvPr id="326" name="Google Shape;326;p23"/>
          <p:cNvSpPr/>
          <p:nvPr/>
        </p:nvSpPr>
        <p:spPr>
          <a:xfrm>
            <a:off x="771525" y="1114425"/>
            <a:ext cx="5619750" cy="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0"/>
        </a:solidFill>
        <a:effectLst/>
      </p:bgPr>
    </p:bg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" y="9525"/>
            <a:ext cx="12172950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4"/>
          <p:cNvSpPr txBox="1"/>
          <p:nvPr/>
        </p:nvSpPr>
        <p:spPr>
          <a:xfrm>
            <a:off x="771525" y="2338387"/>
            <a:ext cx="106489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The background analytical environment runs specialized Pivot Tables to establish rapid multidimensional cross-examinations, providing:</a:t>
            </a:r>
            <a:endParaRPr/>
          </a:p>
        </p:txBody>
      </p:sp>
      <p:pic>
        <p:nvPicPr>
          <p:cNvPr id="334" name="Google Shape;334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66800" y="3490912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10337" y="3490912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66800" y="4953000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24"/>
          <p:cNvSpPr txBox="1"/>
          <p:nvPr/>
        </p:nvSpPr>
        <p:spPr>
          <a:xfrm>
            <a:off x="1495425" y="3481387"/>
            <a:ext cx="4186237" cy="728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Comparison matrices analyzing aggregate Stock In versus Stock Out performance volumes grouped natively by category.</a:t>
            </a:r>
            <a:endParaRPr/>
          </a:p>
        </p:txBody>
      </p:sp>
      <p:sp>
        <p:nvSpPr>
          <p:cNvPr id="338" name="Google Shape;338;p24"/>
          <p:cNvSpPr txBox="1"/>
          <p:nvPr/>
        </p:nvSpPr>
        <p:spPr>
          <a:xfrm>
            <a:off x="6938962" y="3481387"/>
            <a:ext cx="4186237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Supplier fulfillment diagnostics and localized dispatch lead time structural performance reviews.</a:t>
            </a:r>
            <a:endParaRPr/>
          </a:p>
        </p:txBody>
      </p:sp>
      <p:sp>
        <p:nvSpPr>
          <p:cNvPr id="339" name="Google Shape;339;p24"/>
          <p:cNvSpPr txBox="1"/>
          <p:nvPr/>
        </p:nvSpPr>
        <p:spPr>
          <a:xfrm>
            <a:off x="1495425" y="4943475"/>
            <a:ext cx="9629775" cy="24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Strategic discovery isolating Low-Turnover product groups to actively optimize and free warehouse footprint allocations.</a:t>
            </a:r>
            <a:endParaRPr/>
          </a:p>
        </p:txBody>
      </p:sp>
      <p:sp>
        <p:nvSpPr>
          <p:cNvPr id="340" name="Google Shape;340;p24"/>
          <p:cNvSpPr txBox="1"/>
          <p:nvPr/>
        </p:nvSpPr>
        <p:spPr>
          <a:xfrm>
            <a:off x="771525" y="581025"/>
            <a:ext cx="11181397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PIVOT TABLE </a:t>
            </a:r>
            <a:r>
              <a:rPr lang="en-US" sz="3300" b="1" i="0" u="none" strike="noStrike" cap="none">
                <a:solidFill>
                  <a:srgbClr val="008B92"/>
                </a:solidFill>
                <a:latin typeface="Space Grotesk"/>
                <a:ea typeface="Space Grotesk"/>
                <a:cs typeface="Space Grotesk"/>
                <a:sym typeface="Space Grotesk"/>
              </a:rPr>
              <a:t>ANALYSIS</a:t>
            </a:r>
            <a:endParaRPr/>
          </a:p>
        </p:txBody>
      </p:sp>
      <p:sp>
        <p:nvSpPr>
          <p:cNvPr id="341" name="Google Shape;341;p24"/>
          <p:cNvSpPr/>
          <p:nvPr/>
        </p:nvSpPr>
        <p:spPr>
          <a:xfrm>
            <a:off x="771525" y="1114425"/>
            <a:ext cx="5948362" cy="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0"/>
        </a:solidFill>
        <a:effectLst/>
      </p:bgPr>
    </p:bg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Google Shape;346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" y="9525"/>
            <a:ext cx="12172950" cy="683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2000250"/>
            <a:ext cx="10648950" cy="3771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49" name="Google Shape;349;p25"/>
          <p:cNvGraphicFramePr/>
          <p:nvPr>
            <p:extLst>
              <p:ext uri="{D42A27DB-BD31-4B8C-83A1-F6EECF244321}">
                <p14:modId xmlns:p14="http://schemas.microsoft.com/office/powerpoint/2010/main" val="1125824992"/>
              </p:ext>
            </p:extLst>
          </p:nvPr>
        </p:nvGraphicFramePr>
        <p:xfrm>
          <a:off x="781050" y="2009775"/>
          <a:ext cx="10629900" cy="3752775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2621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7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5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65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6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solidFill>
                            <a:srgbClr val="FFFFFF"/>
                          </a:solidFill>
                          <a:sym typeface="Urbanist"/>
                        </a:rPr>
                        <a:t>Product Category</a:t>
                      </a:r>
                      <a:endParaRPr dirty="0"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sym typeface="Urbanist"/>
                        </a:rPr>
                        <a:t>Unique Products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sym typeface="Urbanist"/>
                        </a:rPr>
                        <a:t>Total Stock Units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sym typeface="Urbanist"/>
                        </a:rPr>
                        <a:t>Active Reorder Alerts</a:t>
                      </a:r>
                      <a:endParaRPr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u="none" strike="noStrike" cap="none">
                          <a:solidFill>
                            <a:srgbClr val="E2E8F0"/>
                          </a:solidFill>
                          <a:sym typeface="Urbanist"/>
                        </a:rPr>
                        <a:t>Fruits &amp; Vegetables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u="none" strike="noStrike" cap="none">
                          <a:solidFill>
                            <a:srgbClr val="E2E8F0"/>
                          </a:solidFill>
                          <a:sym typeface="Urbanist"/>
                        </a:rPr>
                        <a:t>38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u="none" strike="noStrike" cap="none">
                          <a:solidFill>
                            <a:srgbClr val="E2E8F0"/>
                          </a:solidFill>
                          <a:sym typeface="Urbanist"/>
                        </a:rPr>
                        <a:t>19,393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u="none" strike="noStrike" cap="none">
                          <a:solidFill>
                            <a:srgbClr val="E2E8F0"/>
                          </a:solidFill>
                          <a:sym typeface="Urbanist"/>
                        </a:rPr>
                        <a:t>138</a:t>
                      </a:r>
                      <a:endParaRPr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6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u="none" strike="noStrike" cap="none">
                          <a:solidFill>
                            <a:srgbClr val="E2E8F0"/>
                          </a:solidFill>
                          <a:sym typeface="Urbanist"/>
                        </a:rPr>
                        <a:t>Meat &amp; Poultry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u="none" strike="noStrike" cap="none">
                          <a:solidFill>
                            <a:srgbClr val="E2E8F0"/>
                          </a:solidFill>
                          <a:sym typeface="Urbanist"/>
                        </a:rPr>
                        <a:t>10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u="none" strike="noStrike" cap="none">
                          <a:solidFill>
                            <a:srgbClr val="E2E8F0"/>
                          </a:solidFill>
                          <a:sym typeface="Urbanist"/>
                        </a:rPr>
                        <a:t>4,400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u="none" strike="noStrike" cap="none">
                          <a:solidFill>
                            <a:srgbClr val="E2E8F0"/>
                          </a:solidFill>
                          <a:sym typeface="Urbanist"/>
                        </a:rPr>
                        <a:t>36</a:t>
                      </a:r>
                      <a:endParaRPr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6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u="none" strike="noStrike" cap="none">
                          <a:solidFill>
                            <a:srgbClr val="E2E8F0"/>
                          </a:solidFill>
                          <a:sym typeface="Urbanist"/>
                        </a:rPr>
                        <a:t>Dairy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u="none" strike="noStrike" cap="none">
                          <a:solidFill>
                            <a:srgbClr val="E2E8F0"/>
                          </a:solidFill>
                          <a:sym typeface="Urbanist"/>
                        </a:rPr>
                        <a:t>24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u="none" strike="noStrike" cap="none">
                          <a:solidFill>
                            <a:srgbClr val="E2E8F0"/>
                          </a:solidFill>
                          <a:sym typeface="Urbanist"/>
                        </a:rPr>
                        <a:t>10,174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u="none" strike="noStrike" cap="none">
                          <a:solidFill>
                            <a:srgbClr val="E2E8F0"/>
                          </a:solidFill>
                          <a:sym typeface="Urbanist"/>
                        </a:rPr>
                        <a:t>84</a:t>
                      </a:r>
                      <a:endParaRPr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u="none" strike="noStrike" cap="none">
                          <a:solidFill>
                            <a:srgbClr val="E2E8F0"/>
                          </a:solidFill>
                          <a:sym typeface="Urbanist"/>
                        </a:rPr>
                        <a:t>Grains &amp; Pulses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u="none" strike="noStrike" cap="none">
                          <a:solidFill>
                            <a:srgbClr val="E2E8F0"/>
                          </a:solidFill>
                          <a:sym typeface="Urbanist"/>
                        </a:rPr>
                        <a:t>20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u="none" strike="noStrike" cap="none">
                          <a:solidFill>
                            <a:srgbClr val="E2E8F0"/>
                          </a:solidFill>
                          <a:sym typeface="Urbanist"/>
                        </a:rPr>
                        <a:t>8,347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u="none" strike="noStrike" cap="none">
                          <a:solidFill>
                            <a:srgbClr val="E2E8F0"/>
                          </a:solidFill>
                          <a:sym typeface="Urbanist"/>
                        </a:rPr>
                        <a:t>75</a:t>
                      </a:r>
                      <a:endParaRPr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6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u="none" strike="noStrike" cap="none">
                          <a:solidFill>
                            <a:srgbClr val="E2E8F0"/>
                          </a:solidFill>
                          <a:sym typeface="Urbanist"/>
                        </a:rPr>
                        <a:t>Seafood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u="none" strike="noStrike" cap="none">
                          <a:solidFill>
                            <a:srgbClr val="E2E8F0"/>
                          </a:solidFill>
                          <a:sym typeface="Urbanist"/>
                        </a:rPr>
                        <a:t>10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u="none" strike="noStrike" cap="none">
                          <a:solidFill>
                            <a:srgbClr val="E2E8F0"/>
                          </a:solidFill>
                          <a:sym typeface="Urbanist"/>
                        </a:rPr>
                        <a:t>5,256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u="none" strike="noStrike" cap="none">
                          <a:solidFill>
                            <a:srgbClr val="E2E8F0"/>
                          </a:solidFill>
                          <a:sym typeface="Urbanist"/>
                        </a:rPr>
                        <a:t>40</a:t>
                      </a:r>
                      <a:endParaRPr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6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u="none" strike="noStrike" cap="none">
                          <a:solidFill>
                            <a:srgbClr val="E2E8F0"/>
                          </a:solidFill>
                          <a:sym typeface="Urbanist"/>
                        </a:rPr>
                        <a:t>Bakery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u="none" strike="noStrike" cap="none">
                          <a:solidFill>
                            <a:srgbClr val="E2E8F0"/>
                          </a:solidFill>
                          <a:sym typeface="Urbanist"/>
                        </a:rPr>
                        <a:t>10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u="none" strike="noStrike" cap="none">
                          <a:solidFill>
                            <a:srgbClr val="E2E8F0"/>
                          </a:solidFill>
                          <a:sym typeface="Urbanist"/>
                        </a:rPr>
                        <a:t>3,916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u="none" strike="noStrike" cap="none">
                          <a:solidFill>
                            <a:srgbClr val="E2E8F0"/>
                          </a:solidFill>
                          <a:sym typeface="Urbanist"/>
                        </a:rPr>
                        <a:t>37</a:t>
                      </a:r>
                      <a:endParaRPr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6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u="none" strike="noStrike" cap="none">
                          <a:solidFill>
                            <a:srgbClr val="E2E8F0"/>
                          </a:solidFill>
                          <a:sym typeface="Urbanist"/>
                        </a:rPr>
                        <a:t>Beverages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u="none" strike="noStrike" cap="none">
                          <a:solidFill>
                            <a:srgbClr val="E2E8F0"/>
                          </a:solidFill>
                          <a:sym typeface="Urbanist"/>
                        </a:rPr>
                        <a:t>8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u="none" strike="noStrike" cap="none">
                          <a:solidFill>
                            <a:srgbClr val="E2E8F0"/>
                          </a:solidFill>
                          <a:sym typeface="Urbanist"/>
                        </a:rPr>
                        <a:t>4,140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u="none" strike="noStrike" cap="none">
                          <a:solidFill>
                            <a:srgbClr val="E2E8F0"/>
                          </a:solidFill>
                          <a:sym typeface="Urbanist"/>
                        </a:rPr>
                        <a:t>38</a:t>
                      </a:r>
                      <a:endParaRPr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6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DEFF9A"/>
                          </a:solidFill>
                          <a:sym typeface="Urbanist"/>
                        </a:rPr>
                        <a:t>Total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DEFF9A"/>
                          </a:solidFill>
                          <a:sym typeface="Urbanist"/>
                        </a:rPr>
                        <a:t>124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DEFF9A"/>
                          </a:solidFill>
                          <a:sym typeface="Urbanist"/>
                        </a:rPr>
                        <a:t>55,039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solidFill>
                            <a:srgbClr val="DEFF9A"/>
                          </a:solidFill>
                          <a:sym typeface="Urbanist"/>
                        </a:rPr>
                        <a:t>453</a:t>
                      </a:r>
                      <a:endParaRPr dirty="0"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50" name="Google Shape;350;p25"/>
          <p:cNvSpPr/>
          <p:nvPr/>
        </p:nvSpPr>
        <p:spPr>
          <a:xfrm>
            <a:off x="781050" y="2871787"/>
            <a:ext cx="2621458" cy="9525"/>
          </a:xfrm>
          <a:prstGeom prst="rect">
            <a:avLst/>
          </a:prstGeom>
          <a:solidFill>
            <a:srgbClr val="1E26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5"/>
          <p:cNvSpPr/>
          <p:nvPr/>
        </p:nvSpPr>
        <p:spPr>
          <a:xfrm>
            <a:off x="3402508" y="2871787"/>
            <a:ext cx="2427982" cy="9525"/>
          </a:xfrm>
          <a:prstGeom prst="rect">
            <a:avLst/>
          </a:prstGeom>
          <a:solidFill>
            <a:srgbClr val="1E26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5"/>
          <p:cNvSpPr/>
          <p:nvPr/>
        </p:nvSpPr>
        <p:spPr>
          <a:xfrm>
            <a:off x="5830490" y="2871787"/>
            <a:ext cx="2515344" cy="9525"/>
          </a:xfrm>
          <a:prstGeom prst="rect">
            <a:avLst/>
          </a:prstGeom>
          <a:solidFill>
            <a:srgbClr val="1E26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5"/>
          <p:cNvSpPr/>
          <p:nvPr/>
        </p:nvSpPr>
        <p:spPr>
          <a:xfrm>
            <a:off x="8345834" y="2871787"/>
            <a:ext cx="3065115" cy="9525"/>
          </a:xfrm>
          <a:prstGeom prst="rect">
            <a:avLst/>
          </a:prstGeom>
          <a:solidFill>
            <a:srgbClr val="1E26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5"/>
          <p:cNvSpPr/>
          <p:nvPr/>
        </p:nvSpPr>
        <p:spPr>
          <a:xfrm>
            <a:off x="781050" y="3281362"/>
            <a:ext cx="2621458" cy="9525"/>
          </a:xfrm>
          <a:prstGeom prst="rect">
            <a:avLst/>
          </a:prstGeom>
          <a:solidFill>
            <a:srgbClr val="1E26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5"/>
          <p:cNvSpPr/>
          <p:nvPr/>
        </p:nvSpPr>
        <p:spPr>
          <a:xfrm>
            <a:off x="3402508" y="3281362"/>
            <a:ext cx="2427982" cy="9525"/>
          </a:xfrm>
          <a:prstGeom prst="rect">
            <a:avLst/>
          </a:prstGeom>
          <a:solidFill>
            <a:srgbClr val="1E26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5"/>
          <p:cNvSpPr/>
          <p:nvPr/>
        </p:nvSpPr>
        <p:spPr>
          <a:xfrm>
            <a:off x="5830490" y="3281362"/>
            <a:ext cx="2515344" cy="9525"/>
          </a:xfrm>
          <a:prstGeom prst="rect">
            <a:avLst/>
          </a:prstGeom>
          <a:solidFill>
            <a:srgbClr val="1E26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5"/>
          <p:cNvSpPr/>
          <p:nvPr/>
        </p:nvSpPr>
        <p:spPr>
          <a:xfrm>
            <a:off x="8345834" y="3281362"/>
            <a:ext cx="3065115" cy="9525"/>
          </a:xfrm>
          <a:prstGeom prst="rect">
            <a:avLst/>
          </a:prstGeom>
          <a:solidFill>
            <a:srgbClr val="1E26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5"/>
          <p:cNvSpPr/>
          <p:nvPr/>
        </p:nvSpPr>
        <p:spPr>
          <a:xfrm>
            <a:off x="781050" y="3690937"/>
            <a:ext cx="2621458" cy="9525"/>
          </a:xfrm>
          <a:prstGeom prst="rect">
            <a:avLst/>
          </a:prstGeom>
          <a:solidFill>
            <a:srgbClr val="1E26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5"/>
          <p:cNvSpPr/>
          <p:nvPr/>
        </p:nvSpPr>
        <p:spPr>
          <a:xfrm>
            <a:off x="3402508" y="3690937"/>
            <a:ext cx="2427982" cy="9525"/>
          </a:xfrm>
          <a:prstGeom prst="rect">
            <a:avLst/>
          </a:prstGeom>
          <a:solidFill>
            <a:srgbClr val="1E26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5"/>
          <p:cNvSpPr/>
          <p:nvPr/>
        </p:nvSpPr>
        <p:spPr>
          <a:xfrm>
            <a:off x="5830490" y="3690937"/>
            <a:ext cx="2515344" cy="9525"/>
          </a:xfrm>
          <a:prstGeom prst="rect">
            <a:avLst/>
          </a:prstGeom>
          <a:solidFill>
            <a:srgbClr val="1E26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5"/>
          <p:cNvSpPr/>
          <p:nvPr/>
        </p:nvSpPr>
        <p:spPr>
          <a:xfrm>
            <a:off x="8345834" y="3690937"/>
            <a:ext cx="3065115" cy="9525"/>
          </a:xfrm>
          <a:prstGeom prst="rect">
            <a:avLst/>
          </a:prstGeom>
          <a:solidFill>
            <a:srgbClr val="1E26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5"/>
          <p:cNvSpPr/>
          <p:nvPr/>
        </p:nvSpPr>
        <p:spPr>
          <a:xfrm>
            <a:off x="781050" y="4100512"/>
            <a:ext cx="2621458" cy="9525"/>
          </a:xfrm>
          <a:prstGeom prst="rect">
            <a:avLst/>
          </a:prstGeom>
          <a:solidFill>
            <a:srgbClr val="1E26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5"/>
          <p:cNvSpPr/>
          <p:nvPr/>
        </p:nvSpPr>
        <p:spPr>
          <a:xfrm>
            <a:off x="3402508" y="4100512"/>
            <a:ext cx="2427982" cy="9525"/>
          </a:xfrm>
          <a:prstGeom prst="rect">
            <a:avLst/>
          </a:prstGeom>
          <a:solidFill>
            <a:srgbClr val="1E26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5"/>
          <p:cNvSpPr/>
          <p:nvPr/>
        </p:nvSpPr>
        <p:spPr>
          <a:xfrm>
            <a:off x="5830490" y="4100512"/>
            <a:ext cx="2515344" cy="9525"/>
          </a:xfrm>
          <a:prstGeom prst="rect">
            <a:avLst/>
          </a:prstGeom>
          <a:solidFill>
            <a:srgbClr val="1E26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5"/>
          <p:cNvSpPr/>
          <p:nvPr/>
        </p:nvSpPr>
        <p:spPr>
          <a:xfrm>
            <a:off x="8345834" y="4100512"/>
            <a:ext cx="3065115" cy="9525"/>
          </a:xfrm>
          <a:prstGeom prst="rect">
            <a:avLst/>
          </a:prstGeom>
          <a:solidFill>
            <a:srgbClr val="1E26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5"/>
          <p:cNvSpPr/>
          <p:nvPr/>
        </p:nvSpPr>
        <p:spPr>
          <a:xfrm>
            <a:off x="781050" y="4510087"/>
            <a:ext cx="2621458" cy="9525"/>
          </a:xfrm>
          <a:prstGeom prst="rect">
            <a:avLst/>
          </a:prstGeom>
          <a:solidFill>
            <a:srgbClr val="1E26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5"/>
          <p:cNvSpPr/>
          <p:nvPr/>
        </p:nvSpPr>
        <p:spPr>
          <a:xfrm>
            <a:off x="3402508" y="4510087"/>
            <a:ext cx="2427982" cy="9525"/>
          </a:xfrm>
          <a:prstGeom prst="rect">
            <a:avLst/>
          </a:prstGeom>
          <a:solidFill>
            <a:srgbClr val="1E26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5"/>
          <p:cNvSpPr/>
          <p:nvPr/>
        </p:nvSpPr>
        <p:spPr>
          <a:xfrm>
            <a:off x="5830490" y="4510087"/>
            <a:ext cx="2515344" cy="9525"/>
          </a:xfrm>
          <a:prstGeom prst="rect">
            <a:avLst/>
          </a:prstGeom>
          <a:solidFill>
            <a:srgbClr val="1E26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5"/>
          <p:cNvSpPr/>
          <p:nvPr/>
        </p:nvSpPr>
        <p:spPr>
          <a:xfrm>
            <a:off x="8345834" y="4510087"/>
            <a:ext cx="3065115" cy="9525"/>
          </a:xfrm>
          <a:prstGeom prst="rect">
            <a:avLst/>
          </a:prstGeom>
          <a:solidFill>
            <a:srgbClr val="1E26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5"/>
          <p:cNvSpPr/>
          <p:nvPr/>
        </p:nvSpPr>
        <p:spPr>
          <a:xfrm>
            <a:off x="781050" y="4919662"/>
            <a:ext cx="2621458" cy="9525"/>
          </a:xfrm>
          <a:prstGeom prst="rect">
            <a:avLst/>
          </a:prstGeom>
          <a:solidFill>
            <a:srgbClr val="1E26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5"/>
          <p:cNvSpPr/>
          <p:nvPr/>
        </p:nvSpPr>
        <p:spPr>
          <a:xfrm>
            <a:off x="3402508" y="4919662"/>
            <a:ext cx="2427982" cy="9525"/>
          </a:xfrm>
          <a:prstGeom prst="rect">
            <a:avLst/>
          </a:prstGeom>
          <a:solidFill>
            <a:srgbClr val="1E26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5"/>
          <p:cNvSpPr/>
          <p:nvPr/>
        </p:nvSpPr>
        <p:spPr>
          <a:xfrm>
            <a:off x="5830490" y="4919662"/>
            <a:ext cx="2515344" cy="9525"/>
          </a:xfrm>
          <a:prstGeom prst="rect">
            <a:avLst/>
          </a:prstGeom>
          <a:solidFill>
            <a:srgbClr val="1E26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5"/>
          <p:cNvSpPr/>
          <p:nvPr/>
        </p:nvSpPr>
        <p:spPr>
          <a:xfrm>
            <a:off x="8345834" y="4919662"/>
            <a:ext cx="3065115" cy="9525"/>
          </a:xfrm>
          <a:prstGeom prst="rect">
            <a:avLst/>
          </a:prstGeom>
          <a:solidFill>
            <a:srgbClr val="1E26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5"/>
          <p:cNvSpPr/>
          <p:nvPr/>
        </p:nvSpPr>
        <p:spPr>
          <a:xfrm>
            <a:off x="781050" y="5334000"/>
            <a:ext cx="2621458" cy="9525"/>
          </a:xfrm>
          <a:prstGeom prst="rect">
            <a:avLst/>
          </a:prstGeom>
          <a:solidFill>
            <a:srgbClr val="1E26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5"/>
          <p:cNvSpPr/>
          <p:nvPr/>
        </p:nvSpPr>
        <p:spPr>
          <a:xfrm>
            <a:off x="3402508" y="5334000"/>
            <a:ext cx="2427982" cy="9525"/>
          </a:xfrm>
          <a:prstGeom prst="rect">
            <a:avLst/>
          </a:prstGeom>
          <a:solidFill>
            <a:srgbClr val="1E26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5"/>
          <p:cNvSpPr/>
          <p:nvPr/>
        </p:nvSpPr>
        <p:spPr>
          <a:xfrm>
            <a:off x="5830490" y="5334000"/>
            <a:ext cx="2515344" cy="9525"/>
          </a:xfrm>
          <a:prstGeom prst="rect">
            <a:avLst/>
          </a:prstGeom>
          <a:solidFill>
            <a:srgbClr val="1E26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5"/>
          <p:cNvSpPr/>
          <p:nvPr/>
        </p:nvSpPr>
        <p:spPr>
          <a:xfrm>
            <a:off x="8345834" y="5334000"/>
            <a:ext cx="3065115" cy="9525"/>
          </a:xfrm>
          <a:prstGeom prst="rect">
            <a:avLst/>
          </a:prstGeom>
          <a:solidFill>
            <a:srgbClr val="1E26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5"/>
          <p:cNvSpPr/>
          <p:nvPr/>
        </p:nvSpPr>
        <p:spPr>
          <a:xfrm>
            <a:off x="781050" y="5343525"/>
            <a:ext cx="2621458" cy="19050"/>
          </a:xfrm>
          <a:prstGeom prst="rect">
            <a:avLst/>
          </a:prstGeom>
          <a:solidFill>
            <a:srgbClr val="008B9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5"/>
          <p:cNvSpPr/>
          <p:nvPr/>
        </p:nvSpPr>
        <p:spPr>
          <a:xfrm>
            <a:off x="3402508" y="5343525"/>
            <a:ext cx="2427982" cy="19050"/>
          </a:xfrm>
          <a:prstGeom prst="rect">
            <a:avLst/>
          </a:prstGeom>
          <a:solidFill>
            <a:srgbClr val="008B9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5"/>
          <p:cNvSpPr/>
          <p:nvPr/>
        </p:nvSpPr>
        <p:spPr>
          <a:xfrm>
            <a:off x="5830490" y="5343525"/>
            <a:ext cx="2515344" cy="19050"/>
          </a:xfrm>
          <a:prstGeom prst="rect">
            <a:avLst/>
          </a:prstGeom>
          <a:solidFill>
            <a:srgbClr val="008B9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5"/>
          <p:cNvSpPr/>
          <p:nvPr/>
        </p:nvSpPr>
        <p:spPr>
          <a:xfrm>
            <a:off x="8345834" y="5343525"/>
            <a:ext cx="3065115" cy="19050"/>
          </a:xfrm>
          <a:prstGeom prst="rect">
            <a:avLst/>
          </a:prstGeom>
          <a:solidFill>
            <a:srgbClr val="008B9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5"/>
          <p:cNvSpPr txBox="1"/>
          <p:nvPr/>
        </p:nvSpPr>
        <p:spPr>
          <a:xfrm>
            <a:off x="771525" y="581025"/>
            <a:ext cx="11181397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CATEGORY SUMMARY </a:t>
            </a:r>
            <a:r>
              <a:rPr lang="en-US" sz="3300" b="1" i="0" u="none" strike="noStrike" cap="none">
                <a:solidFill>
                  <a:srgbClr val="008B92"/>
                </a:solidFill>
                <a:latin typeface="Space Grotesk"/>
                <a:ea typeface="Space Grotesk"/>
                <a:cs typeface="Space Grotesk"/>
                <a:sym typeface="Space Grotesk"/>
              </a:rPr>
              <a:t>STATISTICS</a:t>
            </a:r>
            <a:endParaRPr/>
          </a:p>
        </p:txBody>
      </p:sp>
      <p:sp>
        <p:nvSpPr>
          <p:cNvPr id="383" name="Google Shape;383;p25"/>
          <p:cNvSpPr/>
          <p:nvPr/>
        </p:nvSpPr>
        <p:spPr>
          <a:xfrm>
            <a:off x="771525" y="1114425"/>
            <a:ext cx="3867150" cy="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0"/>
        </a:solidFill>
        <a:effectLst/>
      </p:bgPr>
    </p:bg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8" name="Google Shape;388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" y="9525"/>
            <a:ext cx="12172950" cy="683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66800" y="2550318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10337" y="2550318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2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66800" y="4441031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26"/>
          <p:cNvSpPr txBox="1"/>
          <p:nvPr/>
        </p:nvSpPr>
        <p:spPr>
          <a:xfrm>
            <a:off x="1495425" y="2864643"/>
            <a:ext cx="4186237" cy="728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Synchronizing deep Stock In and Stock Out ledger transactional records without triggering live calculation loop bottlenecks.</a:t>
            </a:r>
            <a:endParaRPr/>
          </a:p>
        </p:txBody>
      </p:sp>
      <p:sp>
        <p:nvSpPr>
          <p:cNvPr id="394" name="Google Shape;394;p26"/>
          <p:cNvSpPr txBox="1"/>
          <p:nvPr/>
        </p:nvSpPr>
        <p:spPr>
          <a:xfrm>
            <a:off x="6938962" y="2864643"/>
            <a:ext cx="4186237" cy="728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Preserving operational runtime reliability across changing enterprise security profiles and strict network-wide script execution boundaries.</a:t>
            </a:r>
            <a:endParaRPr/>
          </a:p>
        </p:txBody>
      </p:sp>
      <p:sp>
        <p:nvSpPr>
          <p:cNvPr id="395" name="Google Shape;395;p26"/>
          <p:cNvSpPr txBox="1"/>
          <p:nvPr/>
        </p:nvSpPr>
        <p:spPr>
          <a:xfrm>
            <a:off x="1495425" y="4755356"/>
            <a:ext cx="962977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Filtering erratic format inputs, anomalous structural spaces, and structural inconsistencies native to independent supplier reporting pipelines.</a:t>
            </a:r>
            <a:endParaRPr/>
          </a:p>
        </p:txBody>
      </p:sp>
      <p:sp>
        <p:nvSpPr>
          <p:cNvPr id="396" name="Google Shape;396;p26"/>
          <p:cNvSpPr txBox="1"/>
          <p:nvPr/>
        </p:nvSpPr>
        <p:spPr>
          <a:xfrm>
            <a:off x="771525" y="581025"/>
            <a:ext cx="11181397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IMPLEMENTATION </a:t>
            </a:r>
            <a:r>
              <a:rPr lang="en-US" sz="3300" b="1" i="0" u="none" strike="noStrike" cap="none">
                <a:solidFill>
                  <a:srgbClr val="008B92"/>
                </a:solidFill>
                <a:latin typeface="Space Grotesk"/>
                <a:ea typeface="Space Grotesk"/>
                <a:cs typeface="Space Grotesk"/>
                <a:sym typeface="Space Grotesk"/>
              </a:rPr>
              <a:t>CHALLENGES</a:t>
            </a:r>
            <a:endParaRPr/>
          </a:p>
        </p:txBody>
      </p:sp>
      <p:sp>
        <p:nvSpPr>
          <p:cNvPr id="397" name="Google Shape;397;p26"/>
          <p:cNvSpPr/>
          <p:nvPr/>
        </p:nvSpPr>
        <p:spPr>
          <a:xfrm>
            <a:off x="771525" y="1114425"/>
            <a:ext cx="4295775" cy="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6"/>
          <p:cNvSpPr txBox="1"/>
          <p:nvPr/>
        </p:nvSpPr>
        <p:spPr>
          <a:xfrm>
            <a:off x="1495425" y="2531268"/>
            <a:ext cx="439554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Cross-Sheet Integration</a:t>
            </a:r>
            <a:endParaRPr/>
          </a:p>
        </p:txBody>
      </p:sp>
      <p:sp>
        <p:nvSpPr>
          <p:cNvPr id="399" name="Google Shape;399;p26"/>
          <p:cNvSpPr txBox="1"/>
          <p:nvPr/>
        </p:nvSpPr>
        <p:spPr>
          <a:xfrm>
            <a:off x="6938962" y="2531268"/>
            <a:ext cx="439554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Macro Security</a:t>
            </a:r>
            <a:endParaRPr/>
          </a:p>
        </p:txBody>
      </p:sp>
      <p:sp>
        <p:nvSpPr>
          <p:cNvPr id="400" name="Google Shape;400;p26"/>
          <p:cNvSpPr txBox="1"/>
          <p:nvPr/>
        </p:nvSpPr>
        <p:spPr>
          <a:xfrm>
            <a:off x="1495425" y="4421981"/>
            <a:ext cx="10111263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Raw Data Noise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0"/>
        </a:solidFill>
        <a:effectLst/>
      </p:bgPr>
    </p:bg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5" name="Google Shape;405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2338387"/>
            <a:ext cx="3359050" cy="309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16325" y="2338387"/>
            <a:ext cx="3359199" cy="309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1275" y="2338387"/>
            <a:ext cx="3359050" cy="3095625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27"/>
          <p:cNvSpPr/>
          <p:nvPr/>
        </p:nvSpPr>
        <p:spPr>
          <a:xfrm>
            <a:off x="1066801" y="3876675"/>
            <a:ext cx="2768498" cy="19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0" name="Google Shape;410;p2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17675" y="2728912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27"/>
          <p:cNvSpPr txBox="1"/>
          <p:nvPr/>
        </p:nvSpPr>
        <p:spPr>
          <a:xfrm>
            <a:off x="1066800" y="4071937"/>
            <a:ext cx="2768500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Transitioning architecture foundations toward Power BI or structural SQL engines for infinite dataset capacity scalability.</a:t>
            </a:r>
            <a:endParaRPr/>
          </a:p>
        </p:txBody>
      </p:sp>
      <p:sp>
        <p:nvSpPr>
          <p:cNvPr id="412" name="Google Shape;412;p27"/>
          <p:cNvSpPr/>
          <p:nvPr/>
        </p:nvSpPr>
        <p:spPr>
          <a:xfrm>
            <a:off x="4711600" y="3876675"/>
            <a:ext cx="2768650" cy="19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3" name="Google Shape;413;p2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62476" y="2728912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27"/>
          <p:cNvSpPr txBox="1"/>
          <p:nvPr/>
        </p:nvSpPr>
        <p:spPr>
          <a:xfrm>
            <a:off x="4711600" y="4071937"/>
            <a:ext cx="2768649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Forecasting cyclical demand spikes and tracking future ordering recommendations using statistical modeling plugins.</a:t>
            </a:r>
            <a:endParaRPr/>
          </a:p>
        </p:txBody>
      </p:sp>
      <p:sp>
        <p:nvSpPr>
          <p:cNvPr id="415" name="Google Shape;415;p27"/>
          <p:cNvSpPr/>
          <p:nvPr/>
        </p:nvSpPr>
        <p:spPr>
          <a:xfrm>
            <a:off x="8356551" y="3876675"/>
            <a:ext cx="2768498" cy="19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6" name="Google Shape;416;p2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407425" y="2728912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27"/>
          <p:cNvSpPr txBox="1"/>
          <p:nvPr/>
        </p:nvSpPr>
        <p:spPr>
          <a:xfrm>
            <a:off x="8356550" y="4071937"/>
            <a:ext cx="2768500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Bridging physical assets to numerical frameworks for true frictionless warehouse inventory physical counting procedures.</a:t>
            </a:r>
            <a:endParaRPr/>
          </a:p>
        </p:txBody>
      </p:sp>
      <p:pic>
        <p:nvPicPr>
          <p:cNvPr id="418" name="Google Shape;418;p2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284362" y="2928937"/>
            <a:ext cx="3333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2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962501" y="2928937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27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607450" y="2928937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27"/>
          <p:cNvSpPr txBox="1"/>
          <p:nvPr/>
        </p:nvSpPr>
        <p:spPr>
          <a:xfrm>
            <a:off x="771525" y="581025"/>
            <a:ext cx="11181397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FUTURE SYSTEM </a:t>
            </a:r>
            <a:r>
              <a:rPr lang="en-US" sz="3300" b="1" i="0" u="none" strike="noStrike" cap="none">
                <a:solidFill>
                  <a:srgbClr val="008B92"/>
                </a:solidFill>
                <a:latin typeface="Space Grotesk"/>
                <a:ea typeface="Space Grotesk"/>
                <a:cs typeface="Space Grotesk"/>
                <a:sym typeface="Space Grotesk"/>
              </a:rPr>
              <a:t>ROADMAP</a:t>
            </a:r>
            <a:endParaRPr/>
          </a:p>
        </p:txBody>
      </p:sp>
      <p:sp>
        <p:nvSpPr>
          <p:cNvPr id="422" name="Google Shape;422;p27"/>
          <p:cNvSpPr/>
          <p:nvPr/>
        </p:nvSpPr>
        <p:spPr>
          <a:xfrm>
            <a:off x="771525" y="1114425"/>
            <a:ext cx="5038725" cy="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7"/>
          <p:cNvSpPr txBox="1"/>
          <p:nvPr/>
        </p:nvSpPr>
        <p:spPr>
          <a:xfrm>
            <a:off x="997587" y="3633787"/>
            <a:ext cx="290692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Cloud Migration</a:t>
            </a:r>
            <a:endParaRPr/>
          </a:p>
        </p:txBody>
      </p:sp>
      <p:sp>
        <p:nvSpPr>
          <p:cNvPr id="424" name="Google Shape;424;p27"/>
          <p:cNvSpPr txBox="1"/>
          <p:nvPr/>
        </p:nvSpPr>
        <p:spPr>
          <a:xfrm>
            <a:off x="4642384" y="3633787"/>
            <a:ext cx="2907082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Predictive AI</a:t>
            </a:r>
            <a:endParaRPr/>
          </a:p>
        </p:txBody>
      </p:sp>
      <p:sp>
        <p:nvSpPr>
          <p:cNvPr id="425" name="Google Shape;425;p27"/>
          <p:cNvSpPr txBox="1"/>
          <p:nvPr/>
        </p:nvSpPr>
        <p:spPr>
          <a:xfrm>
            <a:off x="8287337" y="3633787"/>
            <a:ext cx="290692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RFID/Barcode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0"/>
        </a:solidFill>
        <a:effectLst/>
      </p:bgPr>
    </p:bg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" name="Google Shape;430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" y="9525"/>
            <a:ext cx="12172950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28"/>
          <p:cNvSpPr txBox="1"/>
          <p:nvPr/>
        </p:nvSpPr>
        <p:spPr>
          <a:xfrm>
            <a:off x="1809750" y="3533775"/>
            <a:ext cx="8572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This automated solution successfully reduces manual intervention by 70%, providing a reliable and scalable inventory tracking framework.</a:t>
            </a:r>
            <a:endParaRPr/>
          </a:p>
        </p:txBody>
      </p:sp>
      <p:sp>
        <p:nvSpPr>
          <p:cNvPr id="433" name="Google Shape;433;p28"/>
          <p:cNvSpPr txBox="1"/>
          <p:nvPr/>
        </p:nvSpPr>
        <p:spPr>
          <a:xfrm>
            <a:off x="1595437" y="1657350"/>
            <a:ext cx="9001125" cy="154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1" u="none" strike="noStrike" cap="none">
                <a:solidFill>
                  <a:srgbClr val="E2E8F0"/>
                </a:solidFill>
                <a:latin typeface="Space Grotesk"/>
                <a:ea typeface="Space Grotesk"/>
                <a:cs typeface="Space Grotesk"/>
                <a:sym typeface="Space Grotesk"/>
              </a:rPr>
              <a:t>"Efficiency in the supply chain is no longer a luxury; it is the fundamental requirement for operational continuity."</a:t>
            </a:r>
            <a:endParaRPr/>
          </a:p>
        </p:txBody>
      </p:sp>
      <p:sp>
        <p:nvSpPr>
          <p:cNvPr id="434" name="Google Shape;434;p28"/>
          <p:cNvSpPr txBox="1"/>
          <p:nvPr/>
        </p:nvSpPr>
        <p:spPr>
          <a:xfrm>
            <a:off x="1595437" y="4419600"/>
            <a:ext cx="9001125" cy="781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DEFF9A"/>
                </a:solidFill>
                <a:latin typeface="Space Grotesk"/>
                <a:ea typeface="Space Grotesk"/>
                <a:cs typeface="Space Grotesk"/>
                <a:sym typeface="Space Grotesk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769</Words>
  <Application>Microsoft Office PowerPoint</Application>
  <PresentationFormat>Widescreen</PresentationFormat>
  <Paragraphs>152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Urbanist Medium</vt:lpstr>
      <vt:lpstr>Calibri</vt:lpstr>
      <vt:lpstr>Space Grotesk</vt:lpstr>
      <vt:lpstr>Urbanist SemiBold</vt:lpstr>
      <vt:lpstr>Arial</vt:lpstr>
      <vt:lpstr>Urbanist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BRFAMILY</dc:creator>
  <cp:lastModifiedBy>Rupali Jain</cp:lastModifiedBy>
  <cp:revision>2</cp:revision>
  <dcterms:modified xsi:type="dcterms:W3CDTF">2026-05-28T14:17:01Z</dcterms:modified>
</cp:coreProperties>
</file>